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开场一句话：培养方案就是你四年的学业地图。今天不讲军训、社会实践、毕业设计这些集中实践环节，班会另说。今天讲清三件事：你要学什么、什么时候要自己做选择、大三怎么选方向。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分钟：讲 60，答疑 15。告诉学生哪几块要认真记：03 里的学科通识（下个月就要选）和 05 的方向选择。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这一页替学生把四年串起来。反复强调大三选方向是分水岭，但真正要提前准备的是大二结束前想清楚自己喜欢什么。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第一条“说人话”是给新生听的，方案原文太长，不要念。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配往届毕业生作品或去向名单效果更好。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每列点一个关键词就够，不要逐条念。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60＋89＋21＋5＝175。后两块由辅导员在班会讲，今天只报个数。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这是全场最实用的一页。让学生拍照，班级群里也发一份。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这一页只需要让学生“看到全貌”，逐门念没有意义。停在英语那句上多说两句，这是他们最关心的。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学术讲座每年都有学生到大四才发现没攒够，务必强调。德育与传统文化那 6 周提醒不要安排实习。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四张卡片按紧急程度排序，第一张最急。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这是新生最快要面对的一次选课。把 4 门课名写在黑板上，强调三类都要选够。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国际教育课程学分是教务处规定的必讲项。提醒有出国打算的学生走认定流程。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回答“什么时候分方向”：第 3 学期末想清楚，第 4 学期开始分。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这一页把“限选课”翻译成“选方向”。明确告诉学生不用背 68 和 35 这两个数字，按方向走就够。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讲这一页的时候举一个具体案例：某个本地品牌从策略到落地的全过程，学生更能听懂。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强调这个方向更看重个人风格的连续性，鼓励学生从大二开始积累自己的画风和题材。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很多学生到大四才发现没有作品集，这门课就是逼你提前一年做出来。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把选择权交给学生，但给出可操作的动作：留意手感、找老师聊、选定走通。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条每年都有人问，主动讲掉。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本年度重点改革任务，教务处会检查是否讲到。强调选课名额限制。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配套发一页纸自查表，让学生每学期末打一次钩。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先主动讲掉这六个，剩下时间留给真问题。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留出联系方式横线，宣讲前手写或补填。讲完停三秒再问有没有问题。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3A2620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4224528"/>
            <a:ext cx="310896" cy="310896"/>
          </a:xfrm>
          <a:prstGeom prst="ellipse">
            <a:avLst/>
          </a:prstGeom>
          <a:solidFill>
            <a:srgbClr val="F485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山东工艺美术学院 · 视觉传达设计专业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级新生</a:t>
            </a:r>
            <a:endParaRPr lang="en-US" sz="4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人才培养方案宣讲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你的四年怎么走：学什么 · 什么时候要自己做选择 · 大三选哪个方向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926080" cy="0"/>
          </a:xfrm>
          <a:prstGeom prst="line">
            <a:avLst/>
          </a:prstGeom>
          <a:noFill/>
          <a:ln w="25400">
            <a:solidFill>
              <a:srgbClr val="F485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1206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依据《2026 版本科人才培养方案修订培训》与本专业人才培养方案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5EF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783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四年后，你是一个什么样的设计师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92640" y="1783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分钟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5EF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5420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5420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420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四年一共学什么，按什么顺序学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5420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0098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5EF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30098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3009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300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打底的课；其中有四件事要你自己选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3009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5EFE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0599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059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0599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大一大二，全班一起打底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405993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分钟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1888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5EFE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81888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48188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选一个方向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818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大三开始，你和同学不一样了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8188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分钟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5EF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55778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577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跨专业课 · 自查 · 答疑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55778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最后一块拼图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55778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分钟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你的四年怎么走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课程不是一堆清单，它是有顺序的：先打底，再打专业底子，然后选方向，最后出作品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5EFE9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76272"/>
            <a:ext cx="402336" cy="402336"/>
          </a:xfrm>
          <a:prstGeom prst="ellipse">
            <a:avLst/>
          </a:prstGeom>
          <a:solidFill>
            <a:srgbClr val="9A857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 ＋ 专业基础课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学会看、学会画、学会做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709160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学期就有一次选课：学科通识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5EFE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85032" y="2176272"/>
            <a:ext cx="402336" cy="402336"/>
          </a:xfrm>
          <a:prstGeom prst="ellipse">
            <a:avLst/>
          </a:prstGeom>
          <a:solidFill>
            <a:srgbClr val="9A857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850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大二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打专业底子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320040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门专业核心课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图形、色彩、文字版式、时间与运动、空间与材料、AI 辅助设计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85032" y="4709160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全班一样，不分方向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2B1C1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2176272"/>
            <a:ext cx="402336" cy="402336"/>
          </a:xfrm>
          <a:prstGeom prst="ellipse">
            <a:avLst/>
          </a:prstGeom>
          <a:solidFill>
            <a:srgbClr val="F485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大三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选方向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20040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在两个方向里选一个走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 工作坊、跨专业项目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709160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这一年决定你的作品长什么样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5EFE9"/>
          </a:solidFill>
          <a:ln/>
        </p:spPr>
      </p:sp>
      <p:sp>
        <p:nvSpPr>
          <p:cNvPr id="27" name="Shape 25"/>
          <p:cNvSpPr/>
          <p:nvPr/>
        </p:nvSpPr>
        <p:spPr>
          <a:xfrm>
            <a:off x="9262872" y="2176272"/>
            <a:ext cx="402336" cy="402336"/>
          </a:xfrm>
          <a:prstGeom prst="ellipse">
            <a:avLst/>
          </a:prstGeom>
          <a:solidFill>
            <a:srgbClr val="9A857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628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大四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26287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出成果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262872" y="320040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专产对接真实项目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毕业考察、毕业设计与论文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262872" y="4709160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带着作品集去找工作或考研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48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四年后，你是一个什么样的设计师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我们要把你培养成谁 · 你能去哪儿 · 毕业时要具备什么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我们要把你培养成什么样的人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5EF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</a:t>
            </a:r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德智体美劳全面发展、具有科学精神与人文素养的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应用型视觉传达设计人才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C243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说人话就是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429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既懂文化、又会用数字工具，能把一个想法做成一整套让人看得懂、记得住的视觉方案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365760" cy="365760"/>
          </a:xfrm>
          <a:prstGeom prst="ellipse">
            <a:avLst/>
          </a:prstGeom>
          <a:solidFill>
            <a:srgbClr val="C243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087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为谁而学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0873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国家文化数字化战略、山东省产业发展；面向数字传播、品牌创新、文化内容生产、公共视觉服务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91456"/>
            <a:ext cx="365760" cy="365760"/>
          </a:xfrm>
          <a:prstGeom prst="ellipse">
            <a:avLst/>
          </a:prstGeom>
          <a:solidFill>
            <a:srgbClr val="C243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745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靠什么立足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74573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视觉创作 · 数字媒介应用 · 传播系统建构 · 项目实施 · 团队协作 · 自主学习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毕业去向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你会去哪儿，会做什么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F5EFE9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3736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F5EF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去哪儿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2316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设计机构、广告与整合营销公司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品牌企业的设计中心、市场部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数字媒体与内容平台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出版、文创与文旅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城市形象传播、公共文化服务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2316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品牌系统设计（标志、VI、包装）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信息可视化与界面设计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插画、书籍与数字内容创作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设计策划与提案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项目运营与落地执行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B1C1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892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毕业五年左右：成长为有本土文化创造力、会用数字技术、有国际视野和社会责任感的设计骨干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毕业要求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毕业时，你要拿得出这三样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F5EFE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384048" cy="384048"/>
          </a:xfrm>
          <a:prstGeom prst="ellipse">
            <a:avLst/>
          </a:prstGeom>
          <a:solidFill>
            <a:srgbClr val="C243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做人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文化自信 · 职业伦理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正确三观与思想政治素养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文化自信与人文素养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审美与视觉判断力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创新精神与终身学习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团队协作与责任意识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864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F5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4678680" y="2057400"/>
            <a:ext cx="384048" cy="384048"/>
          </a:xfrm>
          <a:prstGeom prst="ellipse">
            <a:avLst/>
          </a:prstGeom>
          <a:solidFill>
            <a:srgbClr val="C243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7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2732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7868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视觉语言 → 传播系统 → 智能媒介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7868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专业理论、历史与方法体系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字体、版式、色彩、影像、动态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设计思维与用户洞察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人工智能与生成式设计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与文化产业、公共传播的协同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7720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F5EFE9"/>
          </a:solidFill>
          <a:ln/>
        </p:spPr>
      </p:sp>
      <p:sp>
        <p:nvSpPr>
          <p:cNvPr id="17" name="Shape 15"/>
          <p:cNvSpPr/>
          <p:nvPr/>
        </p:nvSpPr>
        <p:spPr>
          <a:xfrm>
            <a:off x="8397240" y="2057400"/>
            <a:ext cx="384048" cy="384048"/>
          </a:xfrm>
          <a:prstGeom prst="ellipse">
            <a:avLst/>
          </a:prstGeom>
          <a:solidFill>
            <a:srgbClr val="C243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4588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本事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9724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 · 跨专业协作 · 全流程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9724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视觉表达与综合分析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方案论证与用户洞察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辅助设计与数字技术应用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跨专业协作与项目实践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专业表达与职业转化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48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四年一共学什么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四大模组 · 学分怎么分 · 什么时候要自己做选择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你的课分成四大块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EF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783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公共通识课程群 ＋ 学科通识课程群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7830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学分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235440" y="1783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打底：思政、外语、体育、AI、艺术史论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EF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75234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专业教育模组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75234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 ＋ 专业限选 ＋ 跨专业交叉任选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752344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学分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275234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主干：先打底 → 选方向 → 破壁垒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2160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BE0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72160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综合实践模组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7216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社会实践课程群 ＋ 专业实践课程群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721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A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学分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721608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军训、社会实践、毕业设计等，班会另讲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9087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BE0D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469087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创新创业模组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4690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双创课程群 ＋ 第二课堂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469087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A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学分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469087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就业创业指导与素质拓展，班会另讲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B1C1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5715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四块加起来 175 学分，就是你的毕业线。今天重点讲前两块。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四年里，这些时候要你自己做选择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其余课程都在课表里排好了，你只要按时上课；下面这几件事没人替你做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49377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要做的选择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10—19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分类选读，本专业已选定 4 门（第 16 页）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17—19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国际教育课程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修校内课程，或用境外访学、外语培训等认定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学期末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—第 4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选一个专业方向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品牌策略与传播 / 视觉叙事与插画，二选一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6—7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跨专业交叉课程、专产对接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全校开放选课，有人数上限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思政选修课 · 学术讲座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 6 选 1；讲座提交报告累积学分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＋ 2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把这一页拍下来。漏掉其中任何一项，毕业时都要补。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48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打底的课，60 学分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公共通识课程群 41 ＋ 学科通识课程群 19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 · 41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公共通识课程群：全校统一开的课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这些课都排在课表里，按时上课即可；只有最后一栏的思政选修课要你自己挑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课程种类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课程（学分）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体育健康课Ⅰ—Ⅳ 各 1（第 1—4 学期）　·　大学生心理健康教育 2（第 1 学期）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思想道德与法治 3　·　中国近现代史纲要 3　·　马克思主义基本原理 3　·　毛泽东思想和中国特色社会主义理论体系概论 3　·　习近平新时代中国特色社会主义思想概论 3　·　军事理论 2　·　形势与政策 2　·　国家安全教育 1　·　思政选修课 1（自己选）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语言逻辑通识课程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初阶综合英语Ⅰ/Ⅱ 各 1.5　·　进阶艺术英语Ⅰ/Ⅱ 各 1.5　·　国学经典鉴赏 1.5　·　中国大众文艺与现代精神 1.5　·　逻辑学与设计 2　·　大学普通话 1　·　创意应用文写作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人工智能通识课程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人工智能导论 1（第 2 学期）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B1C1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532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英语是分级分类的：艺术类学生走“初阶综合英语 → 进阶艺术英语”，前两学期打基础，后两学期转向艺术专业英语。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 · 19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学科通识课程群：面向设计学科的课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这一块四项里有三项要你自己选或自己攒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265176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课程种类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要不要自己选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学期第 10—19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要选：分类选读，本专业已选定 4 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国际教育课程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学期第 17—19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要选：修课，或用访学、外语培训等认定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德育与传统文化课程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学期第 1—6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不用选：学院统一安排，集中 6 周上完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学术活动课程（学术讲座）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要自己攒：听讲座交报告，每次 0.5 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406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B1C1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6052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学术讲座这 2 学分最容易漏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60167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它没有课表、没有老师催。从大一开始，学院请来的讲座尽量去听、去交报告；发表论文或取得实用新型专利可一次性认定 2 学分。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通识课里的选修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四件事要你自己做决定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B1C1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75688"/>
            <a:ext cx="402336" cy="402336"/>
          </a:xfrm>
          <a:prstGeom prst="ellipse">
            <a:avLst/>
          </a:prstGeom>
          <a:solidFill>
            <a:srgbClr val="F485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学科通识课程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060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学分 · 4 门　·　第 1 学期第 10—19 周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下个月就要选。分类硬性选读，本专业已选定 4 门，照着选。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5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75688"/>
            <a:ext cx="402336" cy="402336"/>
          </a:xfrm>
          <a:prstGeom prst="ellipse">
            <a:avLst/>
          </a:prstGeom>
          <a:solidFill>
            <a:srgbClr val="9A857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思政选修课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6060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学分 · 1 门　·　上下学期都有课，自选学期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门里任选 1 门，早修早清。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5EFE9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178808"/>
            <a:ext cx="402336" cy="402336"/>
          </a:xfrm>
          <a:prstGeom prst="ellipse">
            <a:avLst/>
          </a:prstGeom>
          <a:solidFill>
            <a:srgbClr val="9A857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国际教育课程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7091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学分　·　第 4 学期第 17—19 周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09320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修校内国际教育课程，或用外语培训、境外访学、修读外文课程认定。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5EFE9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4178808"/>
            <a:ext cx="402336" cy="402336"/>
          </a:xfrm>
          <a:prstGeom prst="ellipse">
            <a:avLst/>
          </a:prstGeom>
          <a:solidFill>
            <a:srgbClr val="9A857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7091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学分　·　四年内累积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09320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听讲座并提交报告，每次 0.5 学分；发论文、拿专利可一次性认定 2 学分。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接下来两页，把最急的两件事讲清楚：学科通识怎么选、思政选修有哪 6 门。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最急的一次选课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学科通识：本专业替你选定了这 4 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全校规则是三类分别硬性选读；本专业按“与视传高度相关”确定下面 4 门，请照此选课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512064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视传选定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选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F60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中西方美术史、中国工艺美术史、世界设计史、世界科技发展史、中西方建筑史、中西方电影史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中国工艺美术史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概论类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选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F60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美学概论、艺术学概论、设计学概论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设计学概论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设计通识类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选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F60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人机工程学、设计心理学、设计思维与方法、人工智能设计方法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设计心理学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设计思维与方法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B1C1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1023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 4 门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5138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史论打底（中国工艺美术史）· 学科定位（设计学概论）· 方法工具（设计心理学 ＋ 设计思维与方法），直接衔接大二的《设计研究与用户洞察》和《图形创意思维》。三类都要选够，缺一类就不满足毕业要求。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另外两件事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 6 选 1　·　国际教育课程 3 学分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5EF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思政选修课　1 学分，6 门任选 1 门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871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每学年上学期开设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1635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《中国共产党党史》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《中华民族共同体概论》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《从延安到北京：中国共产党人的文艺思想与实践》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862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每学年下学期开设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06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《马克思主义文艺论著选读》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《中华优秀传统文化导读》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《文艺与时代：美术经典视角下的改革开放史》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2852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哪个学期修由你定，建议大一大二清掉。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2B1C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国际教育课程　3 学分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4688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版方案新增，面向全体学生开放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26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开课时间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2461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学期第 17—19 周，集中 3 周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学分怎么拿（两条路）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977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一、修读校内开设的国际教育课程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二、用外语培训、境外访学、修读外文课程等形式申请认定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9560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认定细则以《山东工艺美术学院国际课程认定与管理办法》为准，有出国交流打算的同学提前找教学秘书咨询。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48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大一大二，全班一起打底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学分 · 10 门课 · 不分方向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 · 30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10 门课，全班都要上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国标要求全体学生必须掌握的内容，不受你后面选哪个方向影响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0"/>
                <a:gridCol w="27432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课程（学分）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学科与专业导论 0.5　·　形式基础 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F60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认识专业，练手上功夫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图形创意思维 3　·　视觉感知与色彩表达 3　·　传统文化采风 2　·　空间与材料 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F60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会想图形、会用色彩、会做实物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设计研究与用户洞察 2　·　文字与版式设计 4　·　时间与运动 4　·　人工智能辅助视觉设计 2.5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F60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会做调研、排版面、做动态、用 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330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2B1C1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285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原理在必修打底，高阶实操放方向课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6967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这三个学期是全班同一张课表。等你上完这 10 门，你会知道自己更喜欢做品牌、还是更喜欢讲故事——那时候再选方向，才选得准。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48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选一个方向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从大三开始，你和同学不一样了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 · 你会做什么 · 怎么定 · 三个提醒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专业限选课程群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这一块的本质：选一个方向走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2B1C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317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品牌策略与传播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529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帮一个品牌把“它是谁”说清楚，并让人记住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0156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标志、VI、包装、信息可视化、界面、整合传播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2B1C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20116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3317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视觉叙事与插画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8529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用图像和文本讲一个能打动人的故事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40156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插画、书籍与编辑、纸媒、文化符号、动态叙事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5EF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选一个，走通它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297680"/>
            <a:ext cx="7086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两个方向的课都在第 4—5 学期开出。选定一个方向按顺序修下来，再加上两个方向都要上的工作坊，学分自然就够了——不用自己算。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BE0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5166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选方向不是选考试科目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5166360"/>
            <a:ext cx="7086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它决定你大三大四做什么项目、毕业作品长什么样、找工作时拿出的作品集是哪一类。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品牌策略与传播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帮一个品牌把“它是谁”说清楚，并让人记住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F5EF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你会按这个顺序上课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 · 打工具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1693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信息可视化设计 4　·　图像表达方法 3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界面与交互设计 3　·　品牌形象系统设计 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9044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 · 做完整项目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215384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品牌策划 4　·　包装与消费体验设计 5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跨媒介品牌传播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2303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7 门修完 ＝ 26 学分，再加上两个方向共用的工作坊，35 学分自然就够了。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5EF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你会学会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32304"/>
            <a:ext cx="4526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把一个品牌从策略想清楚，再落到标志、包装、界面和传播物上；也包括把复杂信息做成看得懂的图表。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2461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2B1C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4290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毕业时你手里会有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758184"/>
            <a:ext cx="4526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一整套品牌视觉方案：从品牌策略、标志与识别系统，到包装、界面与线上线下传播物。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7548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5EFE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49377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常见去向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526694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品牌方设计中心 · 广告与整合营销公司 · 包装与快消行业 · 企业市场部 · 设计咨询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视觉叙事与插画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用图像和文本讲一个能打动人的故事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F5EF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你会按这个顺序上课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 · 打工具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1693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文本与编辑设计 4　·　插画语言与风格 3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界面与交互设计 3　·　视觉识别系统设计 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9044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 · 做完整项目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215384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纸媒设计 4　·　文化符号与视觉转译 5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动态叙事与传播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2303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7 门修完 ＝ 26 学分，再加上两个方向共用的工作坊，35 学分自然就够了。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5EF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你会学会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32304"/>
            <a:ext cx="4526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把内容组织成一个有节奏的叙事，用插画、编辑设计、纸质媒介和动态影像把它讲出来。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2461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2B1C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4290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毕业时你手里会有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758184"/>
            <a:ext cx="4526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一本完整的书或一套插画作品，加一支动态叙事短片——一条能看出个人风格的作品线。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7548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5EFE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49377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常见去向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526694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出版与文创 · 插画与 IP · 内容平台 · 文旅与展陈 · 动态与影像设计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两个方向都要上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工作坊：把课堂作业变成能拿出手的作品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综合实践与职业转化课程，不属于任何一个方向，选哪个方向都要修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5EF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专业考察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走出去看真实的行业现场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92024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5EF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6324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社会设计工作坊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用设计解决一个真实的社会问题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92024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5EF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视觉文化工作坊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把文化研究转成视觉表达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192024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2B1C1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80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竞赛工作坊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冲学科竞赛，产出参赛作品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0" y="192024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2B1C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8408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作品集与职业转化工作坊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做出找工作、考研复试要用的作品集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B1C1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47365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学期这两门，直接决定你毕业时手里有没有东西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1480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《竞赛工作坊》产出参赛作品，《作品集与职业转化工作坊》产出你求职和考研复试要用的作品集。考研还是就业，分岔口就在这里，别当成随便凑学分的课。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什么时候定方向，怎么定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5EF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上课时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留意自己的手感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门必修课上完，你会发现自己在“做系统”和“讲故事”上更喜欢哪一件事。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5EF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跟老师聊一次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290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带上你的作业去找专业老师，听听建议，别一个人硬猜。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2B1C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选课时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选定并走通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290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按方向把课修下来，中途频繁换会让作品线断掉。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5EF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5—6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学期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把方向变成作品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4290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方向课的大项目 ＋ 工作坊，攒出一条能看的作品线。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B1C1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5212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选定一个方向，学分自然够——你要操心的是作品，不是算术。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选方向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三个提醒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457200" cy="457200"/>
          </a:xfrm>
          <a:prstGeom prst="ellipse">
            <a:avLst/>
          </a:prstGeom>
          <a:solidFill>
            <a:srgbClr val="C243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可以跨方向，但要有一条主线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042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两个方向的课你都能选，学校只看总数够不够。但作品集没有主线，面试时看不出你擅长什么。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C243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2004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《界面与交互设计》两个方向都有，只计一次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6758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这是方案设置，不是重复开课。两边都选也只算一次学分，别指望修两遍凑数。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626864"/>
            <a:ext cx="457200" cy="457200"/>
          </a:xfrm>
          <a:prstGeom prst="ellipse">
            <a:avLst/>
          </a:prstGeom>
          <a:solidFill>
            <a:srgbClr val="C243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720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工作坊不是凑学分的课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474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竞赛和作品集这两门决定你毕业时手里有没有东西，尽早规划，别排在最后一学期硬赶。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48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和别的专业同学一起做项目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学分 · 第 6—7 学期 · 2026 版方案的重点改革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 · 24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全校打通，组队做项目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371600"/>
                <a:gridCol w="6309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7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跨专业交叉课程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3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全校开放选课，不限专业，项目式教学。本专业向全校开出 4 门（各 4 学分）：视觉表现方法、字体与版式应用设计、出版物设计、品牌策划与设计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专产对接课程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3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7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专产对接实务（一）（二）各 4 学分，引入产业真实项目，全校召集学生分工合作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80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2B1C1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4663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8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有人数上限，手慢无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074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在全校范围内竞争。提前看开课目录，想好第一志愿和备选。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4480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5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0" y="4663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四年里唯一一次系统性跨专业合作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5074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产品、数媒、包装、智能交互的同学都在里面。团队作品是简历上最好看的一项。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带走这一张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每学期末，问自己一遍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课表里排好的课按时上就行；下面这些是要你自己盯住的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5EF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学期选定 4 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5EF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选 1，早修早清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5EF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学期，或走认定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5EF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四年内攒够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5EF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专业方向课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选定一个方向走通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5EFE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竞赛、作品集别落下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5EF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学期抢课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0684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5EFE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3544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专产对接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学期真实项目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 30 学分、通识必修课程都在课表里，按时上课、考试通过即可。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这六个问题，每年都有人问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5EF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47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29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学科通识三类只选两类可以吗？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3591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不可以。分类硬性要求，缺一类不满足毕业要求。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5EF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19672" y="1947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85432" y="1929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方向选了还能换吗？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23591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能换，但越晚换代价越大——作品线会断，学分也要重新排。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5EF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3009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两个方向都想学行不行？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7307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可以选，但要保证有一条主线，否则作品集看不出你擅长什么。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5EF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9672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33009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《界面与交互设计》两边都选算 6 学分吗？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37307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不算，只计一次。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5EF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690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6725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跨专业课没抢到怎么办？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1023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关注补选和下一轮开课，务必在毕业前修满。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5EFE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9672" y="4690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46725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C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出国交流过还要上国际教育课程吗？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51023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走认定流程，以《国际课程认定与管理办法》为准。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4206240" cy="4206240"/>
          </a:xfrm>
          <a:prstGeom prst="ellipse">
            <a:avLst/>
          </a:prstGeom>
          <a:solidFill>
            <a:srgbClr val="3A26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9202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必修课决定你合不合格</a:t>
            </a:r>
            <a:endParaRPr lang="en-US" sz="4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选的方向决定你是谁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886200"/>
            <a:ext cx="2377440" cy="0"/>
          </a:xfrm>
          <a:prstGeom prst="line">
            <a:avLst/>
          </a:prstGeom>
          <a:noFill/>
          <a:ln w="25400">
            <a:solidFill>
              <a:srgbClr val="F485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206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专业负责人：＿＿＿＿＿　　教学秘书：＿＿＿＿＿　　辅导员：＿＿＿＿＿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9C9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培养方案电子版、选课手册、《学分自查表》：班级群文件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521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山东工艺美术学院 · 视觉传达设计专业 · 2026 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视觉传达设计专业2026级新生人才培养方案宣讲</dc:title>
  <dc:subject>PptxGenJS Presentation</dc:subject>
  <dc:creator>视觉传达设计专业</dc:creator>
  <cp:lastModifiedBy>视觉传达设计专业</cp:lastModifiedBy>
  <cp:revision>1</cp:revision>
  <dcterms:created xsi:type="dcterms:W3CDTF">2026-09-11T13:05:27Z</dcterms:created>
  <dcterms:modified xsi:type="dcterms:W3CDTF">2026-09-11T13:05:27Z</dcterms:modified>
</cp:coreProperties>
</file>