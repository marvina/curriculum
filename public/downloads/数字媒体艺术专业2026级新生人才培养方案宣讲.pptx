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开场：培养方案就是你四年的学业地图。今天不讲军训、社会实践、毕业设计这些集中实践环节，班会另说。今天讲清三件事：你要学什么、什么时候要自己做选择、大三两个课程组怎么挑课。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分钟：讲 60，答疑 15。提醒学生哪两块要认真记：03 里的学科通识（下个月就要选）和 05 的两组挑课规则。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这一页替学生把四年串起来。强调第 3 学期末就要开始想：两个组里各挑哪 4 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第一条“说人话”是给新生听的，方案原文太长不要念。可以举例：一场数字展演从概念到落地要经过哪几步。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配往届毕业生作品或去向名单效果更好。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每列点一个关键词即可，不要逐条念。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60＋89＋21＋5＝175。后两块由辅导员在班会讲，今天只报个数。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全场最实用的一页。让学生拍照，班级群里也发一份。国际教育课程的具体周次以教务处通知为准。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本专业的 AI 主线从第 1 学期的人工智能导论开始，这一点值得强调。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学术讲座每年都有学生到大四才发现没攒够。德育与传统文化那 6 周提醒不要安排实习。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四张卡按紧急程度排序，第一张最急。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新生最快要面对的一次选课。把 4 门课名写在黑板上，强调三类都要选够。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国际教育课程学分是教务处规定的必讲项。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回答“什么时候开始自己挑课”：第 3 学期末想清楚，第 4 学期开始挑。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最容易误解的一页：学生会以为像别的专业那样二选一。明确讲两组都要修满 14 学分。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举例：一个虚拟场景从建模、渲染到动态输出的完整过程。提醒学生这一组对软件和算力的要求更高。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这一组更偏策划与传播，适合喜欢做调研、写文案、想产品的学生。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C 组是必上的，且是作品集的主力。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给学生可操作的动作：定重心、补短板、找老师聊。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条每年都有人问，主动讲掉。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本年度重点改革任务，教务处会检查是否讲到。强调选课名额限制。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配套发一页纸自查表，让学生每学期末打一次钩。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前三个都是关于两组挑课规则的，务必讲清楚。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留出联系方式横线，宣讲前填写。讲完停三秒再问有没有问题。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31264A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4224528"/>
            <a:ext cx="310896" cy="310896"/>
          </a:xfrm>
          <a:prstGeom prst="ellipse">
            <a:avLst/>
          </a:prstGeom>
          <a:solidFill>
            <a:srgbClr val="C79B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山东工艺美术学院 · 数字媒体艺术专业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级新生</a:t>
            </a:r>
            <a:endParaRPr lang="en-US" sz="4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人才培养方案宣讲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你的四年怎么走：学什么 · 什么时候要自己做选择 · 大三怎么挑课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2926080" cy="0"/>
          </a:xfrm>
          <a:prstGeom prst="line">
            <a:avLst/>
          </a:prstGeom>
          <a:noFill/>
          <a:ln w="25400">
            <a:solidFill>
              <a:srgbClr val="C79B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1206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四年制艺术类　·　艺术学（设计学）　·　专业代码 130508　·　授艺术学学士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今天讲什么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2EF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830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培养目标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783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四年后，你是一个什么样的设计师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92640" y="17830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分钟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2EF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5420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5420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5420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四年一共学什么，按什么顺序学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25420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分钟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0098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2EF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30098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3009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通识课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3009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打底的课；其中有四件事要你自己选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30098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2EF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05993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0599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专业必修课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0599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大一大二，全班一起打底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405993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分钟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1888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2EF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81888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48188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专业限选课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8188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两个课程组，各挑 4 门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48188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分钟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5778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2EF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55778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5778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跨专业课 · 自查 · 答疑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55778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最后一块拼图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55778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分钟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一张图看懂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你的四年怎么走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课程不是一堆清单，它是有顺序的：先打底，再练数字创作，然后自己挑课，最后做真实项目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F2EFF7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76272"/>
            <a:ext cx="402336" cy="402336"/>
          </a:xfrm>
          <a:prstGeom prst="ellipse">
            <a:avLst/>
          </a:prstGeom>
          <a:solidFill>
            <a:srgbClr val="9086A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00400"/>
            <a:ext cx="20025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通识课 ＋ 数字媒体艺术导论、形式基础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先学会看、学会画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7365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学期就有一次选课：学科通识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F2EFF7"/>
          </a:solidFill>
          <a:ln/>
        </p:spPr>
      </p:sp>
      <p:sp>
        <p:nvSpPr>
          <p:cNvPr id="13" name="Shape 11"/>
          <p:cNvSpPr/>
          <p:nvPr/>
        </p:nvSpPr>
        <p:spPr>
          <a:xfrm>
            <a:off x="3685032" y="2176272"/>
            <a:ext cx="402336" cy="402336"/>
          </a:xfrm>
          <a:prstGeom prst="ellipse">
            <a:avLst/>
          </a:prstGeom>
          <a:solidFill>
            <a:srgbClr val="9086A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8503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大二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8503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打专业底子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3200400"/>
            <a:ext cx="20025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视觉感知与色彩表达、形态语言、图形创意思维、开源硬件与编程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学期：文字与版式、视听语言、三维建模与实时渲染、时间与运动、AI 视觉设计工作流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85032" y="47365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全班一样，不分组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231A3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3952" y="2176272"/>
            <a:ext cx="402336" cy="402336"/>
          </a:xfrm>
          <a:prstGeom prst="ellipse">
            <a:avLst/>
          </a:prstGeom>
          <a:solidFill>
            <a:srgbClr val="C79B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大三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自己挑课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3200400"/>
            <a:ext cx="20025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4—5 学期在两个课程组里各挑 4 门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 专业考察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学期综合设计 ＋ 跨专业项目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47365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这一年决定你的作品长什么样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0684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F2EFF7"/>
          </a:solidFill>
          <a:ln/>
        </p:spPr>
      </p:sp>
      <p:sp>
        <p:nvSpPr>
          <p:cNvPr id="27" name="Shape 25"/>
          <p:cNvSpPr/>
          <p:nvPr/>
        </p:nvSpPr>
        <p:spPr>
          <a:xfrm>
            <a:off x="9262872" y="2176272"/>
            <a:ext cx="402336" cy="402336"/>
          </a:xfrm>
          <a:prstGeom prst="ellipse">
            <a:avLst/>
          </a:prstGeom>
          <a:solidFill>
            <a:srgbClr val="9086A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6287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78408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大四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26287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出成果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262872" y="3200400"/>
            <a:ext cx="20025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专产对接真实项目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毕业考察、毕业设计与论文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262872" y="47365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带着作品集去找工作或考研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79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培养目标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四年后，你是一个什么样的设计师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我们要把你培养成谁 · 你能去哪儿 · 毕业时要具备什么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培养目标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我们要把你培养成什么样的人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2EF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</a:t>
            </a:r>
            <a:pPr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面向数字创意与新型文化产业的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复合型应用人才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365760" cy="365760"/>
          </a:xfrm>
          <a:prstGeom prst="ellipse">
            <a:avLst/>
          </a:prstGeom>
          <a:solidFill>
            <a:srgbClr val="7A3EA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说人话就是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429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会用数字技术做内容：把一个创意变成影像、交互、展演或文创产品，并且能传播出去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33088"/>
            <a:ext cx="365760" cy="365760"/>
          </a:xfrm>
          <a:prstGeom prst="ellipse">
            <a:avLst/>
          </a:prstGeom>
          <a:solidFill>
            <a:srgbClr val="7A3E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087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面向什么行业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40873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数字传媒 · 数字展演 · 新媒体运营 · 文旅创意；服务国家文化数字化战略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91456"/>
            <a:ext cx="365760" cy="365760"/>
          </a:xfrm>
          <a:prstGeom prst="ellipse">
            <a:avLst/>
          </a:prstGeom>
          <a:solidFill>
            <a:srgbClr val="7A3E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745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靠什么立足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74573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数字媒体艺术基础 ＋ AIGC 智能创作 · 交互设计 · 数字创意与传播 · 数字文创 · 数字视觉展演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毕业去向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你会去哪儿，会做什么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F2EFF7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73736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F2EF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659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去哪儿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2316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数字传媒与内容平台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数字展演、展陈与文旅创意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文创企业与 IP 运营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互联网科技与游戏影视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品牌新媒体与数字营销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9659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2316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数字内容策划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智能视觉设计（AIGC 创作）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创意设计与传播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数字展演与舞台视觉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数字文创设计、新媒体运营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31A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892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毕业五年左右：能独立主导项目研发与落地，具备团队管理与创新决策能力。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毕业要求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毕业时，你要拿得出这三样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44240" cy="3886200"/>
          </a:xfrm>
          <a:prstGeom prst="roundRect">
            <a:avLst>
              <a:gd name="adj" fmla="val 2124"/>
            </a:avLst>
          </a:prstGeom>
          <a:solidFill>
            <a:srgbClr val="F2EFF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384048" cy="384048"/>
          </a:xfrm>
          <a:prstGeom prst="ellipse">
            <a:avLst/>
          </a:prstGeom>
          <a:solidFill>
            <a:srgbClr val="7A3E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做人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5786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文化自信 · 职业素养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08960"/>
            <a:ext cx="280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思想政治素养与文化自信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人文艺术素养与审美鉴赏力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融合传统、地域文化与数字艺术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数字化创新思维与终身学习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沟通协调与项目管理意识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8640" y="1783080"/>
            <a:ext cx="3444240" cy="3886200"/>
          </a:xfrm>
          <a:prstGeom prst="roundRect">
            <a:avLst>
              <a:gd name="adj" fmla="val 2124"/>
            </a:avLst>
          </a:prstGeom>
          <a:solidFill>
            <a:srgbClr val="F2EFF7"/>
          </a:solidFill>
          <a:ln/>
        </p:spPr>
      </p:sp>
      <p:sp>
        <p:nvSpPr>
          <p:cNvPr id="11" name="Shape 9"/>
          <p:cNvSpPr/>
          <p:nvPr/>
        </p:nvSpPr>
        <p:spPr>
          <a:xfrm>
            <a:off x="4678680" y="2057400"/>
            <a:ext cx="384048" cy="384048"/>
          </a:xfrm>
          <a:prstGeom prst="ellipse">
            <a:avLst/>
          </a:prstGeom>
          <a:solidFill>
            <a:srgbClr val="7A3E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786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27320" y="205740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78680" y="25786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艺术理论 ＋ 数字技术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78680" y="3108960"/>
            <a:ext cx="280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数字媒体艺术、视觉设计、设计史论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数字图形影像、三维与实时渲染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交互设计与 AIGC 智能创作原理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数字文创、新媒体传播、创意策划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设计管理、用户体验、社会心理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77200" y="1783080"/>
            <a:ext cx="3444240" cy="3886200"/>
          </a:xfrm>
          <a:prstGeom prst="roundRect">
            <a:avLst>
              <a:gd name="adj" fmla="val 2124"/>
            </a:avLst>
          </a:prstGeom>
          <a:solidFill>
            <a:srgbClr val="F2EF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397240" y="2057400"/>
            <a:ext cx="384048" cy="384048"/>
          </a:xfrm>
          <a:prstGeom prst="ellipse">
            <a:avLst/>
          </a:prstGeom>
          <a:solidFill>
            <a:srgbClr val="7A3E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9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45880" y="205740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本事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97240" y="25786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从创意到落地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97240" y="3108960"/>
            <a:ext cx="280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独立完成影像、交互、文创、展演创作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调研策划 → 方案 → 落地 → 输出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用跨学科知识解决设计实操问题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沟通表达、团队协作与自主发展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跟得上行业迭代的学习能力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79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四年一共学什么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四大模组 · 学分怎么分 · 什么时候要自己做选择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你的课分成四大块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2EF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7830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公共通识 41 ＋ 学科通识 19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7830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学分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0" y="1783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打底：思政、外语、体育、AI、艺术史论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2EF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7523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专业教育模组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75234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 30 ＋ 专业限选 35 ＋ 跨专业任选 24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752344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 学分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0" y="2752344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主干：打底 → 自己挑课 → 破壁垒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2160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6E0F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7216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综合实践模组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7216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社会实践课程群 ＋ 专业实践课程群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3721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0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学分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72160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军训、社会实践、毕业设计等，班会另讲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9087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6E0F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469087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创新创业模组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469087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双创课程群 ＋ 第二课堂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469087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0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学分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469087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就业创业指导与素质拓展，班会另讲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31A3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57150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四块加起来 175 学分、3222 学时，就是你的毕业线。今天重点讲前两块。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四年里，这些时候要你自己做选择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其余课程都在课表里排好了，你只要按时上课；下面这几件事没人替你做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484632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要做的选择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A3E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学科通识课程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分类选读，本专业已选定 4 门（第 15 页）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国际教育课程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修校内课程，或用海外访学、研学、国际工作坊认定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A3E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4—5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A3E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两个课程组各挑 4 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数字视觉艺术课程组 8 选 4，数智创意与传播课程组 8 选 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6—7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跨专业交叉课程、专产对接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全校开放选课，有人数上限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四年内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任意时间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思政选修课 · 学术讲座 · 第二课堂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思政 6 选 1；讲座提交报告累积学分；第二课堂由团委认定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＋ 2 ＋ 2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把这一页拍下来。漏掉其中任何一项，毕业时都要补。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79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打底的课，60 学分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公共通识课程群 41 ＋ 学科通识课程群 19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 · 41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公共通识课程群：全校统一开的课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这些课都排在课表里，按时上课即可；只有思政选修课那 1 学分要你自己挑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课程种类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课程（学分）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思政通识课程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思想道德与法治 3　·　中国近现代史纲要 3　·　马克思主义基本原理 3　·　毛泽东思想和中国特色社会主义理论体系概论 3　·　习近平新时代中国特色社会主义思想概论 3　·　军事理论 2　·　形势与政策 2　·　国家安全教育 1　·　思政选修课 1（自己选）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大学英语Ⅰ—Ⅳ 各 1.5　·　古典文学 1.5　·　现代文学 1.5　·　逻辑学 2　·　大学普通话 1　·　应用文写作概论 1　·　人工智能导论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健康通识课程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体育Ⅰ—Ⅳ 各 1（第 1—4 学期）　·　大学生心理健康教育 2（第 1 学期）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31A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2852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《人工智能导论》放在公共通识里，第 1 学期就开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6967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它是后面《人工智能与视觉设计工作流》《AI 创意设计》的前置课。AIGC 是本专业的主线技术之一，从第一学期就开始接触。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 · 19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学科通识课程群：面向设计学科的课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这一块四项里有三项要你自己选或自己攒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2651760"/>
                <a:gridCol w="4480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课程种类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要不要自己选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学科通识课程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学期（全校限选）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A3E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要选：分类选读，本专业已选定 4 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国际教育课程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学期（全校任选）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A3E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要选：修课，或用海外访学、研学、国际工作坊认定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德育与传统文化课程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 学期第 1—6 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不用选：全校统一开设，集中 6 周上完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学术活动课程（学术讲座）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四年内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A3E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要自己攒：听讲座交报告，每次 0.5 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231A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5138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学术讲座这 2 学分最容易漏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9253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没有课表、没有人催你。学院请来的讲座尽量去听、去交报告；发论文或拿到实用新型专利可一次性认定 2 学分。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通识课里的选修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四件事要你自己做决定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31A33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75688"/>
            <a:ext cx="402336" cy="402336"/>
          </a:xfrm>
          <a:prstGeom prst="ellipse">
            <a:avLst/>
          </a:prstGeom>
          <a:solidFill>
            <a:srgbClr val="C79B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学科通识课程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0604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学分 · 4 门　·　第 1 学期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900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下个月就要选。分类硬性选读，本专业已选定 4 门，照着选。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2EFF7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075688"/>
            <a:ext cx="402336" cy="402336"/>
          </a:xfrm>
          <a:prstGeom prst="ellipse">
            <a:avLst/>
          </a:prstGeom>
          <a:solidFill>
            <a:srgbClr val="9086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05740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思政选修课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60604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学分 · 1 门　·　上下学期都有课，自选学期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9900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门里任选 1 门，早修早清。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2EFF7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4178808"/>
            <a:ext cx="402336" cy="402336"/>
          </a:xfrm>
          <a:prstGeom prst="ellipse">
            <a:avLst/>
          </a:prstGeom>
          <a:solidFill>
            <a:srgbClr val="9086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1605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国际教育课程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7091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学分　·　第 4 学期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09320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修校内国际教育课程，或用海外访学、研学、国际工作坊等形式认定。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2EF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4178808"/>
            <a:ext cx="402336" cy="402336"/>
          </a:xfrm>
          <a:prstGeom prst="ellipse">
            <a:avLst/>
          </a:prstGeom>
          <a:solidFill>
            <a:srgbClr val="9086A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1605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学术讲座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7091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学分　·　四年内累积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509320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听讲座并提交报告，每次 0.5 学分；发论文、拿专利可一次性认定 2 学分。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接下来两页，把最急的两件事讲清楚：学科通识怎么选、思政选修有哪 6 门。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最急的一次选课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学科通识：本专业替你选定了这 4 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全校规则是三类分别硬性选读；本专业按“与数字媒体艺术高度相关”确定下面 4 门，请照此选课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512064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全校要求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数媒选定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选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61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中西方美术史、中国工艺美术史、世界设计史、世界科技发展史、中西方建筑史、中西方电影史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A3E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中国工艺美术史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概论类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选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61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美学概论、艺术学概论、设计学概论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A3E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设计学概论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设计通识类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选 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61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人机工程学、设计心理学、设计思维与方法、人工智能设计方法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A3E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人机工程学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A3E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设计思维与方法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31A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1023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为什么是这 4 门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5138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史论打底（中国工艺美术史）· 学科定位（设计学概论）· 人因与方法（人机工程学 ＋ 设计思维与方法），直接衔接大二的《界面与交互设计》《用户体验设计》。三类都要选够，缺一类就不满足毕业要求。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另外两件事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 6 选 1　·　国际教育课程 3 学分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2EF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思政选修课　1 学分，6 门任选 1 门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871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每学年上学期开设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1635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《中国共产党党史》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《中华民族共同体概论》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《从延安到北京：中国共产党人的文艺思想与实践》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8862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每学年下学期开设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2062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《马克思主义文艺论著选读》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《中华优秀传统文化导读》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《文艺与时代：美术经典视角下的改革开放史》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2852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哪个学期修由你定，建议大一大二清掉。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231A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国际教育课程　3 学分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4688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版方案新增，面向全体学生开放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9260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开课时间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2461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学期，具体周次以教务处通知为准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657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学分怎么拿（两条路）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9776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一、修读学校开出的非语言类外语课程（不少于 40 门）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二、通过海外访学、研学、参加国际工作坊等形式申请认定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95604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详见《山东工艺美术学院国际课程认定与管理办法》。有出国交流打算的同学提前找教学秘书咨询。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79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大一大二，全班一起打底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学分 · 12 门课 · 不分组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专业必修课 · 30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 12 门课，全班都要上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国标要求全体学生必须掌握的内容，不受你后面挑哪些课影响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669280"/>
                <a:gridCol w="256032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课程（学分）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数字媒体艺术导论 0.5　·　形式基础 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A61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认识专业，练手上功夫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视觉感知与色彩表达 3.5　·　开源硬件与编程 3　·　形态语言 2.5　·　图形创意思维 2　·　传统文化采风 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A61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会用色彩和形态，会写一点代码、会玩硬件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文字与版式设计 3　·　三维建模与实时渲染 2.5　·　时间与运动 2.5　·　人工智能与视觉设计工作流 2.5　·　视听语言 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A61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会排版、会三维、会动态、会用 AI 工作流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30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231A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2852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学期最关键：三维 ＋ 动态 ＋ AI 工作流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6967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这三样是数媒和其他设计专业最不一样的地方。上完这 12 门，你会知道自己更喜欢做画面，还是更喜欢做内容和传播。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3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79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专业限选课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两个课程组，各挑 4 门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学分 ＝ 14 ＋ 14 ＋ 7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专业限选课程群 · 35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这一块的规则：两组各挑 4 门，再加 3 门共同实训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2EFF7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48840"/>
            <a:ext cx="420624" cy="420624"/>
          </a:xfrm>
          <a:prstGeom prst="ellipse">
            <a:avLst/>
          </a:prstGeom>
          <a:solidFill>
            <a:srgbClr val="7A3E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288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数字视觉艺术课程组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828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门里挑 4 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82880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把画面做出来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49840" y="18288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3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2EFF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3319272"/>
            <a:ext cx="420624" cy="420624"/>
          </a:xfrm>
          <a:prstGeom prst="ellipse">
            <a:avLst/>
          </a:prstGeom>
          <a:solidFill>
            <a:srgbClr val="7A3E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99923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数智创意与传播课程组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999232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门里挑 4 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999232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把内容传出去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0" y="2999232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3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40080" y="416966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6E0F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4489704"/>
            <a:ext cx="420624" cy="420624"/>
          </a:xfrm>
          <a:prstGeom prst="ellipse">
            <a:avLst/>
          </a:prstGeom>
          <a:solidFill>
            <a:srgbClr val="9086A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69664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综合研习与实训课程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416966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门全上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1696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把学过的用到真实项目上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0" y="4169664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3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31A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1560" y="56052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两个组都要修满，不能只选一个，也不能一组多修去顶另一组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60167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组练的是把东西做出来的手艺，B 组练的是把内容送到人面前的方法。学校要求你两样都有——差别只在于你在每组里挑哪 4 门。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课程组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数字视觉艺术课程组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把画面做出来：三维、动态、程序生成、空间与展演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F2EF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门里挑 4 门 ＝ 14 学分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060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学期开出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16936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角色与场景设计　·　视觉转译与设计表现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视觉叙事与动态表达　·　界面与交互设计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0416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学期开出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352544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创意编程与视觉艺术　·　舞台美术设计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服务系统设计　·　数字视觉展演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3949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每门 3.5 学分，挑满 4 门即可。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2EF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1031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适合你如果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4323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你喜欢动手做画面：建模、渲染、动效、舞台与空间、用代码生成图形，想往视觉创作和数字展演方向走。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31A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40965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这一组能给你的作品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443984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一支动态影像或一套角色场景，一个可交互的界面原型，或一场数字展演的视觉方案。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课程组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数智创意与传播课程组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把内容传出去：插画、影像、用户体验、文创与营销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F2EF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门里挑 4 门 ＝ 14 学分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060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学期开出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16936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插画设计　·　信息可视化设计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影像创意与表达　·　用户体验设计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0416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学期开出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352544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数智视觉传播　·　数字文创产品设计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创意媒介　·　数字营销与设计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3949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每门 3.5 学分，挑满 4 门即可。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2EF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1031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适合你如果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4323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你更在意内容和人：想清楚讲什么、给谁看、怎么传播，想往数字内容、文创产品、新媒体运营方向走。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31A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40965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这一组能给你的作品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443984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一套插画或信息可视化作品，一件数字文创产品，一份完整的内容传播或营销方案。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课程组 C · 7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综合研习与实训：这 3 门全班都要上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不属于任何一组，是把 A、B 两组学到的东西合起来用的地方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2EF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专业考察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学分 · 第 5 学期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54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走出去看真实的行业现场，为综合设计找题目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2EF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综合设计 一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743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学分 · 第 6 学期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154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第一次独立完成一个完整项目：从策划到落地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231A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综合设计 二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743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学分 · 第 6 学期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3154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再做一个，把作品集里最重的一件做出来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231A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48737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综合设计一、二 是你毕业作品的预演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2852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学期这两门课产出的东西，直接决定你找工作、考研复试时手里有什么。前面 A、B 两组挑的课，就是为它们做准备的。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两组各 4 门，什么时候挑、怎么挑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2EF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学期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上课时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留意自己的手感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上完三维、动态、AI 工作流，你会发现自己更喜欢做画面，还是更喜欢想内容。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2EF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学期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期末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先定一个重心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重心放 A 组还是 B 组，另一组挑能补短板的 4 门。带着作业去问老师。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231A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选课时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两组同时开始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学期两组各开 4 门，一般每组挑 2 门；第 5 学期再各挑 2 门。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84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2EF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5—6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学期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把它变成作品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学期专业考察找题目，第 6 学期综合设计一、二 做出成品。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31A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5212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两组各挑满 4 门，35 学分自然够——你要操心的是作品，不是算术。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三个提醒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457200" cy="457200"/>
          </a:xfrm>
          <a:prstGeom prst="ellipse">
            <a:avLst/>
          </a:prstGeom>
          <a:solidFill>
            <a:srgbClr val="7A3E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两组都要修满，不能互相顶替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042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组多修一门，不能拿去抵 B 组的学分。每组各 4 门、各 14 学分，一门都不能少。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55264"/>
            <a:ext cx="457200" cy="457200"/>
          </a:xfrm>
          <a:prstGeom prst="ellipse">
            <a:avLst/>
          </a:prstGeom>
          <a:solidFill>
            <a:srgbClr val="7A3E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2004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有重心，但别偏科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6758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重心放一组，另一组就挑能补短板的：做画面的人补传播，做内容的人补技术。招聘看的是完整能力。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626864"/>
            <a:ext cx="457200" cy="457200"/>
          </a:xfrm>
          <a:prstGeom prst="ellipse">
            <a:avLst/>
          </a:prstGeom>
          <a:solidFill>
            <a:srgbClr val="7A3E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5720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综合设计一、二 不是凑学分的课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0474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学期这两门产出你作品集里最重的一件，从第 5 学期专业考察就开始想题目。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3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79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跨专业交叉课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和别的专业同学一起做项目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学分 · 第 6—7 学期 · 2026 版方案的重点改革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跨专业交叉任选课程群 · 24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全校打通，组队做项目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371600"/>
                <a:gridCol w="6309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3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跨专业交叉课程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3E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全校开放选课，不限专业，项目式教学。本专业向全校开出 4 门（各 4 学分）：AI 创意设计、虚拟 IP 与衍生设计、数智文创产品开发、文创项目运营与管理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专产对接课程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3E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7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3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专产对接一、专产对接二 各 4 学分，引入产业真实项目，全校召集学生分工合作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80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231A3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4663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有人数上限，手慢无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074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在全校范围内竞争。提前看开课目录，想好第一志愿和备选。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4480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2EF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83680" y="4663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四年里唯一一次系统性跨专业合作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5074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视传、包装、智能交互的同学都在里面。跨专业团队作品是简历上最好看的一项。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带走这一张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每学期末，问自己一遍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课表里排好的课按时上就行；下面这些是要你自己盯住的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2EF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学期选定 4 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2EF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选 1，早修早清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2EF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国际教育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学期，或走认定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2EF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44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学术讲座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四年内攒够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2EF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组课程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门里挑 4 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2900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2EF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组课程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门里挑 4 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2EF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跨专业交叉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学期抢课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0684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F2EF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3544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35" name="Text 33"/>
          <p:cNvSpPr txBox="1"/>
          <p:nvPr/>
        </p:nvSpPr>
        <p:spPr>
          <a:xfrm>
            <a:off x="923544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专产对接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学期真实项目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另有综合研习与实训 7 学分（专业考察、综合设计一、二）全班必上；专业必修 30 学分和通识必修课都在课表里。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这六个问题，每年都有人问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2EF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947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9293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两个课程组可以只选一个吗？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3591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不可以。A、B 两组各要挑满 4 门、各 14 学分。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2EF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19672" y="1947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85432" y="19293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组多修能顶 B 组的学分吗？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85432" y="23591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不能。多修不吃亏，但不能跨组抵扣。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2EF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3319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3009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我只想做三维和动态，够吗？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7307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组可以集中挑，但 B 组那 4 门也要修——它补的是内容和传播的短板。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2EF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9672" y="3319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33009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学科通识三类只选两类可以吗？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37307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不可以。分类硬性要求，缺一类不满足毕业要求。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2EF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690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6725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跨专业课没抢到怎么办？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1023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关注补选和下一轮开课，务必在毕业前修满。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2EF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9672" y="4690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46725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出国交流过还要上国际教育课程吗？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51023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B3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走认定流程，以《国际课程认定与管理办法》为准。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3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566160"/>
            <a:ext cx="4206240" cy="4206240"/>
          </a:xfrm>
          <a:prstGeom prst="ellipse">
            <a:avLst/>
          </a:prstGeom>
          <a:solidFill>
            <a:srgbClr val="3126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9202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必修课决定你合不合格</a:t>
            </a:r>
            <a:endParaRPr lang="en-US" sz="4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挑的课决定你是谁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886200"/>
            <a:ext cx="2377440" cy="0"/>
          </a:xfrm>
          <a:prstGeom prst="line">
            <a:avLst/>
          </a:prstGeom>
          <a:noFill/>
          <a:ln w="25400">
            <a:solidFill>
              <a:srgbClr val="C79B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206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专业负责人：＿＿＿＿＿　　教学秘书：＿＿＿＿＿　　辅导员：＿＿＿＿＿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F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培养方案电子版、选课手册、《学分自查表》：班级群文件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8521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山东工艺美术学院 · 数字媒体艺术专业 · 2026 级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数字媒体艺术专业2026级新生人才培养方案宣讲</dc:title>
  <dc:subject>PptxGenJS Presentation</dc:subject>
  <dc:creator>数字媒体艺术专业</dc:creator>
  <cp:lastModifiedBy>数字媒体艺术专业</cp:lastModifiedBy>
  <cp:revision>1</cp:revision>
  <dcterms:created xsi:type="dcterms:W3CDTF">2026-09-11T13:36:09Z</dcterms:created>
  <dcterms:modified xsi:type="dcterms:W3CDTF">2026-09-11T13:36:09Z</dcterms:modified>
</cp:coreProperties>
</file>