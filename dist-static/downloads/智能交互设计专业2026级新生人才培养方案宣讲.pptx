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培养方案就是你四年的学业地图。先点明一件事——我们是理工类专业，拿的是工学学士，要上高等数学和大学物理，这和艺术类专业不一样。今天不讲军训、社会实践、毕业设计这些集中实践环节，班会另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75 分钟：讲 60，答疑 15。提醒学生哪两块要认真记：03 里的学科通识（下个月就要选）和 05 的课程群二选一。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这一页替学生把四年串起来。强调第 4 学期末要想清楚选哪个课程群。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第一条“说人话”是给新生听的，方案原文太长不要念。可以举个例子：同样一个语音助手，为什么有的好用有的难用，差别就在交互设计。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考研这条路要早点说，理工类学位在跨考计算机、人机交互方向时是有优势的。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每列点一个关键词即可。“AI 伦理与负责任设计”是本专业的特色要求，值得多讲两句。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68＋86＋21＋5＝180。理工类比艺术类多，主要多在数理和工程实践上。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全场最实用的一页。让学生拍照，班级群里也发一份。学科通识的具体选课周次以教务处通知为准。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重点讲理工通识。每年都有学生因为高数掉队，第一学期就要打预防针，告诉他们有答疑和辅导渠道。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学术讲座每年都有学生到大四才发现没攒够。德育与传统文化那 6 周提醒不要安排实习。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四张卡按紧急程度排序，第一张最急。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新生最快要面对的一次选课。把 4 门课名写在黑板上，强调三类都要选够。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国际教育课程学分是教务处规定的必讲项。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回答“什么时候分课程群”：第 4 学期末想清楚，第 5 学期开始分。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先讲清结构：20＋10。学生最容易误解的是以为两个群都要上，明确说只选一个。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强调这 7 门是共同基础，不存在“选了群就不用上”的情况。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举例讲：一个智能音箱、一台车机，从传感器到界面到语音，学生更能听懂。设计竞赛工作坊产出的是参赛作品。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这个群更偏系统与服务，适合喜欢做调研、讲逻辑、关注社会议题的学生。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给学生可操作的动作：留意手感、找老师聊、选定走通。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条要主动讲，每年都有学生按“好不好过”选课程群。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本年度重点改革任务，教务处会检查是否讲到。强调选课名额限制。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配套发一页纸自查表，让学生每学期末打一次钩。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前两个是理工类专业新生最焦虑的问题，一定要主动讲、讲得实在。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留出联系方式横线，宣讲前填写。讲完停三秒再问有没有问题。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203440"/>
          </a:solidFill>
          <a:ln/>
        </p:spPr>
      </p:sp>
      <p:sp>
        <p:nvSpPr>
          <p:cNvPr id="3" name="Shape 1"/>
          <p:cNvSpPr/>
          <p:nvPr/>
        </p:nvSpPr>
        <p:spPr>
          <a:xfrm>
            <a:off x="10561320" y="4224528"/>
            <a:ext cx="310896" cy="310896"/>
          </a:xfrm>
          <a:prstGeom prst="ellipse">
            <a:avLst/>
          </a:prstGeom>
          <a:solidFill>
            <a:srgbClr val="45C8D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9164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5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山东工艺美术学院 · 智能交互设计专业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8961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级新生</a:t>
            </a:r>
            <a:endParaRPr lang="en-US" sz="46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人才培养方案宣讲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6052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D3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你的四年怎么走：学什么 · 什么时候要自己做选择 · 大三选哪个课程群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2926080" cy="0"/>
          </a:xfrm>
          <a:prstGeom prst="line">
            <a:avLst/>
          </a:prstGeom>
          <a:noFill/>
          <a:ln w="25400">
            <a:solidFill>
              <a:srgbClr val="45C8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512064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四年制理工类　·　工学（机械类）　·　专业代码 080218T　·　授工学学士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今天讲什么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DF3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78308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培养目标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526280" y="178308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四年后，你是一个什么样的设计师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92640" y="17830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分钟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542032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DF3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54203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54203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课程地图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54203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四年一共学什么，按什么顺序学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92640" y="254203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分钟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30098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DF3F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330098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30098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通识课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330098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打底的课；其中有四件事要你自己选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0" y="3300984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分钟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059936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DF3F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4059936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05993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专业必修课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05993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大一大二，全班一起打底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405993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分钟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818888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DF3F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481888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1600200" y="481888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专业限选课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81888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学分大家都上，10 学分二选一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692640" y="481888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分钟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557784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DF3F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14400" y="557784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1600200" y="557784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跨专业课 · 自查 · 答疑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4526280" y="557784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最后一块拼图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692640" y="557784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分钟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一张图看懂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你的四年怎么走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课程不是一堆清单，它是有顺序的：先打底，再学交互核心，然后选课程群，最后做真实项目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514600" cy="3520440"/>
          </a:xfrm>
          <a:prstGeom prst="roundRect">
            <a:avLst>
              <a:gd name="adj" fmla="val 2909"/>
            </a:avLst>
          </a:prstGeom>
          <a:solidFill>
            <a:srgbClr val="EDF3F5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176272"/>
            <a:ext cx="402336" cy="402336"/>
          </a:xfrm>
          <a:prstGeom prst="ellipse">
            <a:avLst/>
          </a:prstGeom>
          <a:solidFill>
            <a:srgbClr val="7F949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1762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大一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724912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打底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200400"/>
            <a:ext cx="200253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通识课（含高等数学、大学物理）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＋ 学科专业导论、形式基础与工程制图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4736592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学期就有一次选课：学科通识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29000" y="1920240"/>
            <a:ext cx="2514600" cy="3520440"/>
          </a:xfrm>
          <a:prstGeom prst="roundRect">
            <a:avLst>
              <a:gd name="adj" fmla="val 2909"/>
            </a:avLst>
          </a:prstGeom>
          <a:solidFill>
            <a:srgbClr val="EDF3F5"/>
          </a:solidFill>
          <a:ln/>
        </p:spPr>
      </p:sp>
      <p:sp>
        <p:nvSpPr>
          <p:cNvPr id="13" name="Shape 11"/>
          <p:cNvSpPr/>
          <p:nvPr/>
        </p:nvSpPr>
        <p:spPr>
          <a:xfrm>
            <a:off x="3685032" y="2176272"/>
            <a:ext cx="402336" cy="402336"/>
          </a:xfrm>
          <a:prstGeom prst="ellipse">
            <a:avLst/>
          </a:prstGeom>
          <a:solidFill>
            <a:srgbClr val="7F949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8503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21762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大二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685032" y="2724912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打专业底子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685032" y="3200400"/>
            <a:ext cx="200253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程序设计基础、设计色彩、文字编排与界面设计、人工智能与设计、设计思维与创新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学期起：交互设计原理与方法、web 前端、传感器技术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685032" y="4736592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全班一样，不分课程群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1920240"/>
            <a:ext cx="2514600" cy="3520440"/>
          </a:xfrm>
          <a:prstGeom prst="roundRect">
            <a:avLst>
              <a:gd name="adj" fmla="val 2909"/>
            </a:avLst>
          </a:prstGeom>
          <a:solidFill>
            <a:srgbClr val="16222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73952" y="2176272"/>
            <a:ext cx="402336" cy="402336"/>
          </a:xfrm>
          <a:prstGeom prst="ellipse">
            <a:avLst/>
          </a:prstGeom>
          <a:solidFill>
            <a:srgbClr val="45C8D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7395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21762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大三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473952" y="2724912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5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上手做项目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73952" y="3200400"/>
            <a:ext cx="200253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FD3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4—5 学期专业限选课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FD3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学期在两个综合实践课程群里选一个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FD3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学期工作坊 ＋ 跨专业项目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73952" y="4736592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这一年决定你的作品长什么样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006840" y="1920240"/>
            <a:ext cx="2514600" cy="3520440"/>
          </a:xfrm>
          <a:prstGeom prst="roundRect">
            <a:avLst>
              <a:gd name="adj" fmla="val 2909"/>
            </a:avLst>
          </a:prstGeom>
          <a:solidFill>
            <a:srgbClr val="EDF3F5"/>
          </a:solidFill>
          <a:ln/>
        </p:spPr>
      </p:sp>
      <p:sp>
        <p:nvSpPr>
          <p:cNvPr id="27" name="Shape 25"/>
          <p:cNvSpPr/>
          <p:nvPr/>
        </p:nvSpPr>
        <p:spPr>
          <a:xfrm>
            <a:off x="9262872" y="2176272"/>
            <a:ext cx="402336" cy="402336"/>
          </a:xfrm>
          <a:prstGeom prst="ellipse">
            <a:avLst/>
          </a:prstGeom>
          <a:solidFill>
            <a:srgbClr val="7F949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26287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784080" y="21762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大四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262872" y="2724912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出成果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262872" y="3200400"/>
            <a:ext cx="200253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专产对接真实项目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毕业考察、毕业设计与论文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262872" y="4736592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带着作品集去找工作或考研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45C8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46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培养目标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5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四年后，你是一个什么样的设计师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663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我们要把你培养成谁 · 你能去哪儿 · 毕业时要具备什么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培养目标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我们要把你培养成什么样的人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EDF3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1874520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0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</a:t>
            </a:r>
            <a:pPr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融合人工智能技术与设计思维的</a:t>
            </a:r>
            <a:endParaRPr lang="en-US" sz="2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复合型高素质应用型工程人才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474720"/>
            <a:ext cx="365760" cy="365760"/>
          </a:xfrm>
          <a:prstGeom prst="ellipse">
            <a:avLst/>
          </a:prstGeom>
          <a:solidFill>
            <a:srgbClr val="0E7A8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429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说人话就是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34290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既懂人、又懂技术：把大模型和智能算力，变成人愿意用、也用得顺手的交互系统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133088"/>
            <a:ext cx="365760" cy="365760"/>
          </a:xfrm>
          <a:prstGeom prst="ellipse">
            <a:avLst/>
          </a:prstGeom>
          <a:solidFill>
            <a:srgbClr val="0E7A8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40873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站在什么前沿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408736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“智能互联、虚实融合”；对接山东省人工智能产业高地建设需求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791456"/>
            <a:ext cx="365760" cy="365760"/>
          </a:xfrm>
          <a:prstGeom prst="ellipse">
            <a:avLst/>
          </a:prstGeom>
          <a:solidFill>
            <a:srgbClr val="0E7A8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4791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47457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靠什么立足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474573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人机交互 · 系统工程 · 数理认知基础 ＋ 多模态交互 · VR/AR 开发 · AIGC 体验设计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毕业去向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你会去哪儿，会做什么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2926080"/>
          </a:xfrm>
          <a:prstGeom prst="roundRect">
            <a:avLst>
              <a:gd name="adj" fmla="val 2500"/>
            </a:avLst>
          </a:prstGeom>
          <a:solidFill>
            <a:srgbClr val="EDF3F5"/>
          </a:solidFill>
          <a:ln/>
        </p:spPr>
      </p:sp>
      <p:sp>
        <p:nvSpPr>
          <p:cNvPr id="5" name="Shape 3"/>
          <p:cNvSpPr/>
          <p:nvPr/>
        </p:nvSpPr>
        <p:spPr>
          <a:xfrm>
            <a:off x="6263640" y="1737360"/>
            <a:ext cx="5257800" cy="2926080"/>
          </a:xfrm>
          <a:prstGeom prst="roundRect">
            <a:avLst>
              <a:gd name="adj" fmla="val 2500"/>
            </a:avLst>
          </a:prstGeom>
          <a:solidFill>
            <a:srgbClr val="EDF3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9659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去哪儿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423160"/>
            <a:ext cx="4526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互联网与软件公司</a:t>
            </a:r>
            <a:endParaRPr lang="en-US" sz="15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智能终端与智能硬件企业</a:t>
            </a:r>
            <a:endParaRPr lang="en-US" sz="15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智能制造与汽车（座舱 HMI）</a:t>
            </a:r>
            <a:endParaRPr lang="en-US" sz="15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数字媒体与 XR 内容公司</a:t>
            </a:r>
            <a:endParaRPr lang="en-US" sz="15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智慧文旅、公共服务与数字政务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19659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做什么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423160"/>
            <a:ext cx="4526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智能交互设计（软硬件联动）</a:t>
            </a:r>
            <a:endParaRPr lang="en-US" sz="15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UX 工程与用户体验测试</a:t>
            </a:r>
            <a:endParaRPr lang="en-US" sz="15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XR / 沉浸式体验设计</a:t>
            </a:r>
            <a:endParaRPr lang="en-US" sz="15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车载 HMI 设计</a:t>
            </a:r>
            <a:endParaRPr lang="en-US" sz="15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AIGC 体验设计与智能产品设计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8920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622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48920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也可以继续深造：报考设计学、计算机相关专业硕士——我们是工学学士，两条路都通。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毕业要求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毕业时，你要拿得出这三样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44240" cy="3886200"/>
          </a:xfrm>
          <a:prstGeom prst="roundRect">
            <a:avLst>
              <a:gd name="adj" fmla="val 2124"/>
            </a:avLst>
          </a:prstGeom>
          <a:solidFill>
            <a:srgbClr val="EDF3F5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57400"/>
            <a:ext cx="384048" cy="384048"/>
          </a:xfrm>
          <a:prstGeom prst="ellipse">
            <a:avLst/>
          </a:prstGeom>
          <a:solidFill>
            <a:srgbClr val="0E7A8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57400"/>
            <a:ext cx="225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做人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578608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伦理 · 负责任设计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108960"/>
            <a:ext cx="2804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政治立场与社会责任感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设计职业道德与 AI 伦理意识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系统设计思维与工程落地意识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人文艺术素养与国际视野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沟通协作与终身学习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58640" y="1783080"/>
            <a:ext cx="3444240" cy="3886200"/>
          </a:xfrm>
          <a:prstGeom prst="roundRect">
            <a:avLst>
              <a:gd name="adj" fmla="val 2124"/>
            </a:avLst>
          </a:prstGeom>
          <a:solidFill>
            <a:srgbClr val="EDF3F5"/>
          </a:solidFill>
          <a:ln/>
        </p:spPr>
      </p:sp>
      <p:sp>
        <p:nvSpPr>
          <p:cNvPr id="11" name="Shape 9"/>
          <p:cNvSpPr/>
          <p:nvPr/>
        </p:nvSpPr>
        <p:spPr>
          <a:xfrm>
            <a:off x="4678680" y="2057400"/>
            <a:ext cx="384048" cy="384048"/>
          </a:xfrm>
          <a:prstGeom prst="ellipse">
            <a:avLst/>
          </a:prstGeom>
          <a:solidFill>
            <a:srgbClr val="0E7A8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7868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227320" y="2057400"/>
            <a:ext cx="225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78680" y="2578608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数理 → 人因 → 智能技术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678680" y="3108960"/>
            <a:ext cx="2804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高等数学、大学物理与 AI 应用基础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大模型与智能 Agent 运行机理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认知心理学、设计心理学、人机工程学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交互方法、信息架构、多模态、VR/AR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数据分析与可视化、思辨设计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77200" y="1783080"/>
            <a:ext cx="3444240" cy="3886200"/>
          </a:xfrm>
          <a:prstGeom prst="roundRect">
            <a:avLst>
              <a:gd name="adj" fmla="val 2124"/>
            </a:avLst>
          </a:prstGeom>
          <a:solidFill>
            <a:srgbClr val="EDF3F5"/>
          </a:solidFill>
          <a:ln/>
        </p:spPr>
      </p:sp>
      <p:sp>
        <p:nvSpPr>
          <p:cNvPr id="17" name="Shape 15"/>
          <p:cNvSpPr/>
          <p:nvPr/>
        </p:nvSpPr>
        <p:spPr>
          <a:xfrm>
            <a:off x="8397240" y="2057400"/>
            <a:ext cx="384048" cy="384048"/>
          </a:xfrm>
          <a:prstGeom prst="ellipse">
            <a:avLst/>
          </a:prstGeom>
          <a:solidFill>
            <a:srgbClr val="0E7A8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9724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945880" y="2057400"/>
            <a:ext cx="225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本事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397240" y="2578608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从需求到工程落地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397240" y="3108960"/>
            <a:ext cx="2804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拆解复杂系统、规划信息架构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用户研究 → 草图 → 高保真原型全流程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多通道融合与沉浸式空间交互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搭建体验评估指标、用数据迭代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AIGC 快速做原型，并研判伦理风险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45C8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46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课程地图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5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四年一共学什么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663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四大模组 · 学分怎么分 · 什么时候要自己做选择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课程结构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你的课分成四大块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DF3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17830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通识教育模组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78308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公共通识 49 ＋ 学科通识 19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178308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 学分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326880" y="17830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打底：思政、外语、体育、数理、艺术史论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52344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DF3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275234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专业教育模组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2752344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专业必修 30 ＋ 专业限选 30 ＋ 跨专业任选 26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2752344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 学分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326880" y="2752344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主干：打底 → 上手做项目 → 破壁垒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21608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DEE9E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372160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综合实践模组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372160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社会实践课程群 ＋ 专业实践课程群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3721608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7F94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学分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3721608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军训、社会实践、毕业设计等，班会另讲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690872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DEE9E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51560" y="469087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创新创业模组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840480" y="469087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双创课程群 ＋ 第二课堂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0" y="4690872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7F94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学分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4690872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就业创业指导与素质拓展，班会另讲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71500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16222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51560" y="57150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四块加起来 180 学分、3312 学时，就是你的毕业线。今天重点讲前两块。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四年里，这些时候要你自己做选择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其余课程都在课表里排好了，你只要按时上课；下面这几件事没人替你做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834640"/>
                <a:gridCol w="484632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要做的选择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A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学科通识课程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分类选读，本专业已选定 4 门（第 15 页）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42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4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17—19 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国际教育课程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修校内课程，或用海外访学、研学、国际工作坊认定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42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A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4 学期末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A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—第 5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A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选一个综合实践课程群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课程群 1 智能产品与座舱 / 课程群 2 智慧文旅与体验服务，二选一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42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6—7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跨专业交叉课程、专产对接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全校开放选课，有人数上限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42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四年内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任意时间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思政选修课 · 学术讲座 · 第二课堂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思政 6 选 1；讲座提交报告累积学分；第二课堂由团委认定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42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＋ 2 ＋ 2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把这一页拍下来。漏掉其中任何一项，毕业时都要补。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45C8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46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通识教育模组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5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打底的课，68 学分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663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公共通识课程群 49 ＋ 学科通识课程群 19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通识教育模组 · 49 学分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公共通识课程群：全校统一开的课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这些课都排在课表里，按时上课即可；只有思政选修课那 1 学分要你自己挑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73152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课程种类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课程（学分）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B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思政通识课程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思想道德与法治 3　·　中国近现代史纲要 3　·　马克思主义基本原理 3　·　毛泽东思想和中国特色社会主义理论体系概论 3　·　习近平新时代中国特色社会主义思想概论 3　·　军事理论 2　·　形势与政策 2　·　国家安全教育 1　·　思政选修课 1（自己选）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42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语言逻辑通识课程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大学英语Ⅰ—Ⅳ 各 1.5　·　古典文学 1.5　·　现代文学 1.5　·　逻辑学 2　·　大学普通话 1　·　应用文写作概论 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42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A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理工通识课程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高等数学 4（第 1 学期）　·　大学物理 2（第 2 学期）　·　人工智能应用 3（第 3 学期）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7A8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健康通识课程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体育Ⅰ—Ⅳ 各 1（第 1—4 学期）　·　大学生心理健康教育 2（第 1 学期）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42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376672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6222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" y="554126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理工通识课这 9 学分，是你和艺术类专业最大的不同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595274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3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它们是你后面学程序设计、传感器、多模态交互的地基。第一学期就开高数，别掉队。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通识教育模组 · 19 学分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学科通识课程群：面向设计学科的课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这一块四项里有三项要你自己选或自己攒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2651760"/>
                <a:gridCol w="4480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课程种类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要不要自己选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学科通识课程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42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 学期（全校限选）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A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要选：分类选读，本专业已选定 4 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国际教育课程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42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4 学期第 17—19 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A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要选：修课，或用海外访学、研学、国际工作坊认定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德育与传统文化课程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42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6 学期第 1—6 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不用选：全校统一开设，集中 6 周上完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学术活动课程（学术讲座）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42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四年内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A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要自己攒：听讲座交报告，每次 0.5 学分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16222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" y="551383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学术讲座这 2 学分最容易漏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592531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3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没有课表、没有人催你。学院请来的讲座尽量去听、去交报告；发论文或拿到实用新型专利可一次性认定 2 学分。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通识课里的选修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四件事要你自己做决定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16222B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75688"/>
            <a:ext cx="402336" cy="402336"/>
          </a:xfrm>
          <a:prstGeom prst="ellipse">
            <a:avLst/>
          </a:prstGeom>
          <a:solidFill>
            <a:srgbClr val="45C8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075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5740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学科通识课程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60604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学分 · 4 门　·　第 1 学期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9008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BFD3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下个月就要选。分类硬性选读，本专业已选定 4 门，照着选。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EDF3F5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0" y="2075688"/>
            <a:ext cx="402336" cy="402336"/>
          </a:xfrm>
          <a:prstGeom prst="ellipse">
            <a:avLst/>
          </a:prstGeom>
          <a:solidFill>
            <a:srgbClr val="7F949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2075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05740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思政选修课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60604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学分 · 1 门　·　上下学期都有课，自选学期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99008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门里任选 1 门，早修早清。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EDF3F5"/>
          </a:solidFill>
          <a:ln/>
        </p:spPr>
      </p:sp>
      <p:sp>
        <p:nvSpPr>
          <p:cNvPr id="17" name="Shape 15"/>
          <p:cNvSpPr/>
          <p:nvPr/>
        </p:nvSpPr>
        <p:spPr>
          <a:xfrm>
            <a:off x="960120" y="4178808"/>
            <a:ext cx="402336" cy="402336"/>
          </a:xfrm>
          <a:prstGeom prst="ellipse">
            <a:avLst/>
          </a:prstGeom>
          <a:solidFill>
            <a:srgbClr val="7F949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4178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16052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国际教育课程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470916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学分　·　第 4 学期第 17—19 周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509320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修校内国际教育课程，或用海外访学、研学、国际工作坊等形式认定。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388620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EDF3F5"/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0" y="4178808"/>
            <a:ext cx="402336" cy="402336"/>
          </a:xfrm>
          <a:prstGeom prst="ellipse">
            <a:avLst/>
          </a:prstGeom>
          <a:solidFill>
            <a:srgbClr val="7F949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83680" y="4178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416052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学术讲座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470916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学分　·　四年内累积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509320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听讲座并提交报告，每次 0.5 学分；发论文、拿专利可一次性认定 2 学分。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接下来两页，把最急的两件事讲清楚：学科通识怎么选、思政选修有哪 6 门。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最急的一次选课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学科通识：本专业替你选定了这 4 门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全校规则是三类分别硬性选读；本专业按“与智能交互高度相关”确定下面 4 门，请照此选课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5120640"/>
                <a:gridCol w="30175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全校要求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可选课程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智能交互选定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历史类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选 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E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中西方美术史、中国工艺美术史、世界设计史、世界科技发展史、中西方建筑史、中西方电影史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A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世界设计史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概论类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选 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E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美学概论、艺术学概论、设计学概论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A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设计学概论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设计通识类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选 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E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人机工程学、设计心理学、设计思维与方法、人工智能设计方法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A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设计心理学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A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设计思维与方法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9377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16222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" y="510235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为什么是这 4 门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551383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3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设计脉络（世界设计史）· 学科定位（设计学概论）· 人因与方法（设计心理学 ＋ 设计思维与方法），直接衔接大二的《交互设计原理与方法》和《用户体验测试与评估》。三类都要选够，缺一类就不满足毕业要求。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另外两件事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思政选修 6 选 1　·　国际教育课程 3 学分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EDF3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0116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思政选修课　1 学分，6 门任选 1 门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8716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每学年上学期开设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816352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《中国共产党党史》</a:t>
            </a:r>
            <a:endParaRPr lang="en-US" sz="13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《中华民族共同体概论》</a:t>
            </a:r>
            <a:endParaRPr lang="en-US" sz="13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《从延安到北京：中国共产党人的文艺思想与实践》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8862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每学年下学期开设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2062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《马克思主义文艺论著选读》</a:t>
            </a:r>
            <a:endParaRPr lang="en-US" sz="13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《中华优秀传统文化导读》</a:t>
            </a:r>
            <a:endParaRPr lang="en-US" sz="13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《文艺与时代：美术经典视角下的改革开放史》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528523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哪个学期修由你定，建议大一大二清掉。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1622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29400" y="20116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国际教育课程　3 学分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46888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版方案新增，面向全体学生开放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9260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开课时间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324612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3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学期第 17—19 周，集中 3 周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36576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学分怎么拿（两条路）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397764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BFD3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一、修读学校开出的非语言类外语课程（不少于 40 门）</a:t>
            </a:r>
            <a:endParaRPr lang="en-US" sz="13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BFD3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二、通过海外访学、研学、参加国际工作坊等形式申请认定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495604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5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由国际合作处组织申报，经教务处与国际合作处共同认定。有出国交流打算的同学提前找教学秘书咨询。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45C8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46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专业必修课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5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大一大二，全班一起打底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663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学分 · 13 门课 · 不分课程群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专业必修课 · 30 学分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 13 门课，全班都要上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国标要求全体学生必须掌握的内容，不受你后面选哪个课程群影响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669280"/>
                <a:gridCol w="256032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课程（学分）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学会什么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学科专业导论 0.5　·　形式基础与工程制图 3.5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E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认识专业，学会看图、画图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42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2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程序设计基础 3　·　文字编排与界面设计 3　·　人工智能与设计 2　·　设计思维与创新 2　·　设计色彩 1.5　·　传统文化采风 1.5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E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会写代码、会做界面、会用 AI、会想问题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42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3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交互设计原理与方法 3　·　传感器技术与应用 3　·　时间与运动 3　·　计算机辅助设计 2　·　web 前端应用与开发 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E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交互的核心方法 ＋ 软硬件动手能力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42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12064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16222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" y="528523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学期是关键：交互设计原理与方法 ＋ 传感器 ＋ web 前端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569671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3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这三门课上完，你才算真正会做“交互”——既能想清楚人怎么用，也能把它做出来。上完这 13 门，你会知道自己更喜欢做产品、还是更喜欢做场景。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45C8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46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专业限选课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5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学分大家都上，10 学分二选一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663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门专业实践课 ＋ 一个综合实践课程群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专业限选课程群 · 30 学分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这一块分两部分：先一起上，再选一个课程群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EDF3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196596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20116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专业实践课程（7 门）　全班都要上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103120" y="245059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4—5 学期开出，把大二学的方法真正用到项目上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学分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622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352044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5C8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35661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综合实践课程群　两个里选一个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400507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课程群 1 智能产品与座舱　／　课程群 2 智慧文旅与体验服务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4343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9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89204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EDF3F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489204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选一个，走通它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4892040"/>
            <a:ext cx="7086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选定一个课程群按顺序修下来，加上大家都上的 20 学分，30 学分自然就够了——不用自己算。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733288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DEE9E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" y="5733288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选课程群不是选难易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023360" y="5733288"/>
            <a:ext cx="7086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两个群的差别是“把交互做进产品里”还是“做进场景和服务里”，决定的是你毕业作品长什么样。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先一起上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专业实践课程 20 学分：7 门，全班都要上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4—5 学期开出。这 7 门是你的看家本领，不管后面选哪个课程群都用得上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120640"/>
                <a:gridCol w="43891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课程（学分）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练什么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B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4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用户体验测试与评估 3　·　信息可视化设计 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多模态交互设计 3　·　虚拟现实技术与应用 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E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会评估好不好用、会把数据讲清楚、会做语音手势等多通道交互、会做 VR/AR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5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服务设计与人机协同 3　·　沉浸式叙事与体验设计 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行业考察 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E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会设计人和机器怎么分工、会做沉浸式叙事、去行业现场看真实项目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0292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16222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" y="519379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 7 门＝20 学分，再加上你选的那个课程群 10 学分，正好 30。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560527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3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《用户体验测试与评估》和《服务设计与人机协同》是招聘时最常被问到的两门课，认真做课程作业，它们能直接进作品集。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综合实践课程群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智能产品与座舱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把交互做进实体产品和车里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57800" cy="3840480"/>
          </a:xfrm>
          <a:prstGeom prst="roundRect">
            <a:avLst>
              <a:gd name="adj" fmla="val 1905"/>
            </a:avLst>
          </a:prstGeom>
          <a:solidFill>
            <a:srgbClr val="EDF3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14884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这个群里有三门课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60604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学期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916936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智能产品设计 3　·　智能座舱体验设计 3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90448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学期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215384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设计竞赛工作坊 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523036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三门合计 10 学分。加上大家都上的 20 学分专业实践课，限选 30 学分自然就够了。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92024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EDF3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210312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你会学会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432304"/>
            <a:ext cx="4526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软硬件联动的产品交互：从传感器、原型到完整的智能产品；以及车载 HMI 这一类高要求的交互场景。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324612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1622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342900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毕业时你手里会有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3758184"/>
            <a:ext cx="4526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一套完整的智能产品或座舱交互方案（含硬件原型与交互演示），加一件竞赛级作品。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47548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EDF3F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29400" y="493776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常见去向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5266944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智能终端与智能硬件 · 汽车与座舱 HMI · 智能制造与 IoT · 消费电子交互设计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综合实践课程群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智慧文旅与体验服务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把交互做进场景和服务里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57800" cy="3840480"/>
          </a:xfrm>
          <a:prstGeom prst="roundRect">
            <a:avLst>
              <a:gd name="adj" fmla="val 1905"/>
            </a:avLst>
          </a:prstGeom>
          <a:solidFill>
            <a:srgbClr val="EDF3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14884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这个群里有三门课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60604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学期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916936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智慧文旅体验设计 3　·　思辨设计 3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90448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学期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215384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设计服务工作坊 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523036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三门合计 10 学分。加上大家都上的 20 学分专业实践课，限选 30 学分自然就够了。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92024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EDF3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210312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你会学会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432304"/>
            <a:ext cx="4526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面向文旅、公共服务这类真实场景的沉浸式体验设计；以及用思辨设计的视角，批判性地审视技术与伦理问题。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324612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1622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342900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毕业时你手里会有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3758184"/>
            <a:ext cx="4526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一套文旅或公共服务的体验设计方案（含服务流程与场景交互），加一份工作坊落地成果。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47548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EDF3F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29400" y="493776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常见去向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5266944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文旅与展陈 · 互联网体验设计 · 公共服务与数字政务 · 体验策略与服务设计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什么时候定课程群，怎么定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EDF3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学期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上课时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80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留意自己的手感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2900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上完多模态交互、VR、用户体验测试这几门，你会发现自己更喜欢“动手做东西”还是“理清一套服务”。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8288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EDF3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57600" y="20574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学期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期末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880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跟老师聊一次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42900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带上你的课程作业去找专业老师，听听建议，别一个人硬猜。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1622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20574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45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学期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45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选课时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880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选定并走通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42900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BFD3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两个群的课都在第 5 学期开出，选定后按顺序修完，中途换群要重修。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06840" y="18288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EDF3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35440" y="20574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学期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2880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把它变成作品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342900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对应的工作坊（设计竞赛 / 设计服务）产出你作品集里最重的一件。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21208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1622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51560" y="5212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选定一个课程群，学分自然够——你要操心的是作品，不是算术。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选课程群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三个提醒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83664"/>
            <a:ext cx="457200" cy="457200"/>
          </a:xfrm>
          <a:prstGeom prst="ellipse">
            <a:avLst/>
          </a:prstGeom>
          <a:solidFill>
            <a:srgbClr val="0E7A8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28800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两个群没有难易之分，只有方向之分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30428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课程群 1 更偏软硬件和产品，课程群 2 更偏场景、服务和思辨。按你想做的事选，不要按“哪个好过”选。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255264"/>
            <a:ext cx="457200" cy="457200"/>
          </a:xfrm>
          <a:prstGeom prst="ellipse">
            <a:avLst/>
          </a:prstGeom>
          <a:solidFill>
            <a:srgbClr val="0E7A8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200400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学分的专业实践课两个群都要上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67588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用户体验测试、信息可视化、多模态交互、VR、服务设计、沉浸式叙事、行业考察——这 7 门是共同基础，先把它们学扎实。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626864"/>
            <a:ext cx="457200" cy="457200"/>
          </a:xfrm>
          <a:prstGeom prst="ellipse">
            <a:avLst/>
          </a:prstGeom>
          <a:solidFill>
            <a:srgbClr val="0E7A8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626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572000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工作坊不是凑学分的课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504748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《设计竞赛工作坊》和《设计服务工作坊》在第 6 学期，产出的是你作品集里最重的一件，尽早规划。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62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45C8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46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跨专业交叉课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5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和别的专业同学一起做项目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663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学分 · 第 6—7 学期 · 2026 版方案的重点改革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跨专业交叉任选课程群 · 26 学分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全校打通，组队做项目</a:t>
            </a:r>
            <a:endParaRPr lang="en-US" sz="3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  <a:gridCol w="1371600"/>
                <a:gridCol w="63093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B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跨专业交叉课程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E7A8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6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全校开放选课，不限专业，项目式教学。本专业向全校开出 5 门：版式设计 2、信息设计 4、界面设计 4、交互设计 4、智能产品设计 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专产对接课程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E7A8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7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42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专产对接 1、专产对接 2 各 4 学分，引入产业真实项目，全校召集学生分工合作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48056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16222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60120" y="46634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5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有人数上限，手慢无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50749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BFD3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在全校范围内竞争。提前看开课目录，想好第一志愿和备选。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63640" y="448056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EDF3F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583680" y="46634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四年里唯一一次系统性跨专业合作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50749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视传、数媒、包装、产品的同学都在里面。跨专业团队作品是简历上最好看的一项。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带走这一张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每学期末，问自己一遍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课表里排好的课按时上就行；下面这些是要你自己盯住的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EDF3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6090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学科通识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535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学期选定 4 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965960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EDF3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0" y="21031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66090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思政选修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9535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选 1，早修早清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965960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EDF3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21031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66090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国际教育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9535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学期，或走认定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06840" y="1965960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EDF3F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35440" y="21031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266090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学术讲座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29535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四年内攒够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538728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EDF3F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367588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2336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专业限选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452628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共同 ＋ 课程群 10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29000" y="3538728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EDF3F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57600" y="367588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200" dirty="0"/>
          </a:p>
        </p:txBody>
      </p:sp>
      <p:sp>
        <p:nvSpPr>
          <p:cNvPr id="27" name="Text 25"/>
          <p:cNvSpPr txBox="1"/>
          <p:nvPr/>
        </p:nvSpPr>
        <p:spPr>
          <a:xfrm>
            <a:off x="3657600" y="42336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跨专业交叉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657600" y="452628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学期抢课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3538728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EDF3F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46520" y="367588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20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42336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专产对接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446520" y="452628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 学期真实项目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006840" y="3538728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EDF3F5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235440" y="367588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35" name="Text 33"/>
          <p:cNvSpPr txBox="1"/>
          <p:nvPr/>
        </p:nvSpPr>
        <p:spPr>
          <a:xfrm>
            <a:off x="9235440" y="42336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第二课堂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9235440" y="452628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团委认定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专业必修 30 学分、通识必修课程都在课表里，按时上课、考试通过即可。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这六个问题，每年都有人问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EDF3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19476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9293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我数学不好，能学这个专业吗？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235915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高等数学 4 学分、大学物理 2 学分是必修，必须过。专业更看重你能不能把技术用起来。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EDF3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19672" y="19476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885432" y="19293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要不要会编程？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85432" y="235915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从零教起。程序设计基础、web 前端、传感器技术都是必修，跟着上就行。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EDF3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33192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3009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学科通识三类只选两类可以吗？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373075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不可以。分类硬性要求，缺一类不满足毕业要求。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31546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EDF3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19672" y="33192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885432" y="33009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课程群选了还能换吗？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85432" y="373075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两个群的课都在第 5 学期开出，换群意味着重修，尽量在第 4 学期末定下来。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5262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EDF3F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4690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46725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跨专业课没抢到怎么办？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510235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关注补选和下一轮开课，务必在毕业前修满。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45262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EDF3F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19672" y="4690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885432" y="46725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出国交流过还要上国际教育课程吗？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85432" y="510235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E42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走认定流程，由教务处与国际合作处共同认定。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62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566160"/>
            <a:ext cx="4206240" cy="4206240"/>
          </a:xfrm>
          <a:prstGeom prst="ellipse">
            <a:avLst/>
          </a:prstGeom>
          <a:solidFill>
            <a:srgbClr val="20344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92024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必修课决定你合不合格</a:t>
            </a:r>
            <a:endParaRPr lang="en-US" sz="3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选的课程群决定你是谁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3886200"/>
            <a:ext cx="2377440" cy="0"/>
          </a:xfrm>
          <a:prstGeom prst="line">
            <a:avLst/>
          </a:prstGeom>
          <a:noFill/>
          <a:ln w="25400">
            <a:solidFill>
              <a:srgbClr val="45C8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42062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BFD3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专业负责人：＿＿＿＿＿　　教学秘书：＿＿＿＿＿　　辅导员：＿＿＿＿＿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BFD3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培养方案电子版、选课手册、《学分自查表》：班级群文件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85216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山东工艺美术学院 · 智能交互设计专业 · 2026 级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视觉传达设计专业2026级新生人才培养方案宣讲</dc:title>
  <dc:subject>PptxGenJS Presentation</dc:subject>
  <dc:creator>视觉传达设计专业</dc:creator>
  <cp:lastModifiedBy>视觉传达设计专业</cp:lastModifiedBy>
  <cp:revision>1</cp:revision>
  <dcterms:created xsi:type="dcterms:W3CDTF">2026-09-11T13:05:27Z</dcterms:created>
  <dcterms:modified xsi:type="dcterms:W3CDTF">2026-09-11T13:05:27Z</dcterms:modified>
</cp:coreProperties>
</file>