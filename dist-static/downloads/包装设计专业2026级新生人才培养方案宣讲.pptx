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开场：培养方案就是你四年的学业地图。今天不讲军训、社会实践、毕业设计这些集中实践环节，班会另说。今天讲清三件事：你要学什么、什么时候要自己做选择、大三两个方向组怎么挑课。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分钟：讲 60，答疑 15。提醒学生哪两块要认真记：03 里的学科通识（下个月就要选）和 05 的两组挑课规则。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这一页替学生把四年串起来。强调第 3 学期末就要开始想：两个方向组里各挑哪几门。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第一条“说人话”是给新生听的。可以拿一件超市里的商品举例：结构、材料、印刷、视觉、品牌，全是这个专业的事。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配往届毕业生作品或去向名单效果更好。可以强调包装是设计里少有的“看得见摸得着、能量产”的方向。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“绿色低碳”这一条是本专业的特色要求，减塑和限过度包装是硬政策，值得多讲两句。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60＋89＋21＋5＝175。后两块由辅导员在班会讲，今天只报个数。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全场最实用的一页。让学生拍照，班级群里也发一份。国际教育课程的具体周次以教务处通知为准。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包装专业的学生容易轻视这两门课，这里点一下它们和专业的关系。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学术讲座每年都有学生到大四才发现没攒够。德育与传统文化那 6 周提醒不要安排实习。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四张卡按紧急程度排序，第一张最急。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新生最快要面对的一次选课。把 4 门课名写在黑板上，强调三类都要选够。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国际教育课程学分是教务处规定的必讲项。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回答“什么时候进专业方向课”：第 3 学期末想清楚，第 4 学期开始。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最容易误解的一页：学生会以为二选一。明确讲两组都要修 14.5 学分。具体门数以教研室选课通知为准。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这一组对动手能力和工艺知识要求高。可以带一两件实物打样给学生看。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这一组更偏策划与商业，适合喜欢做调研、写方案、想品牌的学生。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讲清楚：专业考察必上，两个工作坊二选一，合计 6 学分。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提醒：A 组课集中在第 4 学期，选课时不要把两组都堆在同一学期。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条每年都有人问，主动讲掉。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本年度重点改革任务，教务处会检查是否讲到。强调选课名额限制。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配套发一页纸自查表，让学生每学期末打一次钩。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前四个都是关于限选规则的，务必讲清楚。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留出联系方式横线，宣讲前填写。讲完停三秒再问有没有问题。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26382E"/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4224528"/>
            <a:ext cx="310896" cy="310896"/>
          </a:xfrm>
          <a:prstGeom prst="ellipse">
            <a:avLst/>
          </a:prstGeom>
          <a:solidFill>
            <a:srgbClr val="5FC7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山东工艺美术学院 · 包装设计专业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级新生</a:t>
            </a:r>
            <a:endParaRPr lang="en-US" sz="4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人才培养方案宣讲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你的四年怎么走：学什么 · 什么时候要自己做选择 · 大三怎么挑课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2926080" cy="0"/>
          </a:xfrm>
          <a:prstGeom prst="line">
            <a:avLst/>
          </a:prstGeom>
          <a:noFill/>
          <a:ln w="25400">
            <a:solidFill>
              <a:srgbClr val="5FC7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51206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四年制艺术类　·　艺术学（设计学类）　·　专业代码 130512T　·　授艺术学学士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783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四年后，你是一个什么样的设计师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92640" y="1783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分钟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4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5420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5420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4203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四年一共学什么，按什么顺序学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5420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30098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4F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330098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3009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300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打底的课；其中有四件事要你自己选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3009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4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0599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05993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0599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大一大二，全班一起打底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405993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分钟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81888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4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81888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48188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818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两个方向组 ＋ 综合实践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481888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分钟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DF4F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55778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577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跨专业课 · 自查 · 答疑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55778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最后一块拼图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55778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分钟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你的四年怎么走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课程不是一堆清单，它是有顺序的：先打底，再练设计基本功，然后自己挑课，最后做真实项目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EDF4F0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76272"/>
            <a:ext cx="402336" cy="402336"/>
          </a:xfrm>
          <a:prstGeom prst="ellipse">
            <a:avLst/>
          </a:prstGeom>
          <a:solidFill>
            <a:srgbClr val="7E968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 ＋ 学科与专业导论、形式基础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先学会看、学会画、学会做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学期就有一次选课：学科通识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EDF4F0"/>
          </a:solidFill>
          <a:ln/>
        </p:spPr>
      </p:sp>
      <p:sp>
        <p:nvSpPr>
          <p:cNvPr id="13" name="Shape 11"/>
          <p:cNvSpPr/>
          <p:nvPr/>
        </p:nvSpPr>
        <p:spPr>
          <a:xfrm>
            <a:off x="3685032" y="2176272"/>
            <a:ext cx="402336" cy="402336"/>
          </a:xfrm>
          <a:prstGeom prst="ellipse">
            <a:avLst/>
          </a:prstGeom>
          <a:solidFill>
            <a:srgbClr val="7E968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850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大二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打专业底子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视觉感知与色彩表达、空间与材料、图形创意思维、传统文化采风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学期：文字与版式设计、时间与运动、设计研究与用户洞察、AI 视觉设计工作流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8503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全班一样，不分组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1B2A2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2176272"/>
            <a:ext cx="402336" cy="402336"/>
          </a:xfrm>
          <a:prstGeom prst="ellipse">
            <a:avLst/>
          </a:prstGeom>
          <a:solidFill>
            <a:srgbClr val="5FC7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大三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进包装专业课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4—5 学期两个方向组的课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 专业考察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学期工作坊 ＋ 跨专业项目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这一年决定你的作品长什么样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192024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EDF4F0"/>
          </a:solidFill>
          <a:ln/>
        </p:spPr>
      </p:sp>
      <p:sp>
        <p:nvSpPr>
          <p:cNvPr id="27" name="Shape 25"/>
          <p:cNvSpPr/>
          <p:nvPr/>
        </p:nvSpPr>
        <p:spPr>
          <a:xfrm>
            <a:off x="9262872" y="2176272"/>
            <a:ext cx="402336" cy="402336"/>
          </a:xfrm>
          <a:prstGeom prst="ellipse">
            <a:avLst/>
          </a:prstGeom>
          <a:solidFill>
            <a:srgbClr val="7E968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628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0" y="21762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大四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262872" y="272491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出成果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262872" y="3200400"/>
            <a:ext cx="20025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专产对接真实项目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毕业考察、毕业设计与论文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262872" y="47365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带着作品集去找工作或考研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5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四年后，你是一个什么样的设计师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我们要把你培养成谁 · 你能去哪儿 · 毕业时要具备什么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培养目标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我们要把你培养成什么样的人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D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</a:t>
            </a:r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适配包装产业转型的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复合型应用型创新设计人才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说人话就是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429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让一件商品被看见、被拿起、被记住：从造型结构、材料工艺，到视觉与品牌，一整套做下来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365760" cy="365760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4087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对接什么产业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0873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国家“十五五”包装产业高质量发展部署；产业正在往绿色化、智能化、融合化走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91456"/>
            <a:ext cx="365760" cy="365760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745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五大核心方向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74573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包装造型结构 · 视觉设计 · 材料工艺 · 智能包装 · 品牌传播设计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毕业去向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你会去哪儿，会做什么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EDF4F0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737360"/>
            <a:ext cx="5257800" cy="2926080"/>
          </a:xfrm>
          <a:prstGeom prst="roundRect">
            <a:avLst>
              <a:gd name="adj" fmla="val 2500"/>
            </a:avLst>
          </a:prstGeom>
          <a:solidFill>
            <a:srgbClr val="EDF4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去哪儿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2316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消费品与快消企业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电商物流与供应链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文旅文创与地方特产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农产品与地方轻工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包装设计机构与印刷企业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2316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包装视觉设计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容器结构研发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材料工艺与打样落地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品牌配套与商业策划</a:t>
            </a:r>
            <a:endParaRPr lang="en-US" sz="15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智能包装与虚拟展示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B2A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892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毕业五年左右：成长为一线设计骨干，能持续跟进新材料、数字化设计与绿色包装前沿。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毕业要求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毕业时，你要拿得出这三样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EDF4F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384048" cy="384048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做人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绿色低碳 · 行业责任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良好政治素养与职业道德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熟知减塑、限过度包装等政策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秉持循环节约的设计理念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产业链协同的团队协作意识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挖掘本土文化做特色包装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864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EDF4F0"/>
          </a:solidFill>
          <a:ln/>
        </p:spPr>
      </p:sp>
      <p:sp>
        <p:nvSpPr>
          <p:cNvPr id="11" name="Shape 9"/>
          <p:cNvSpPr/>
          <p:nvPr/>
        </p:nvSpPr>
        <p:spPr>
          <a:xfrm>
            <a:off x="4678680" y="2057400"/>
            <a:ext cx="384048" cy="384048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7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2732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7868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设计要素 ＋ 包装专业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7868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图形、色彩、造型、材料等设计要素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材料加工、容器结构、包装工艺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绿色轻量化与智能包装技术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品牌策划与市场、管理知识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行业环保标准与产业趋势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77200" y="1783080"/>
            <a:ext cx="3444240" cy="3886200"/>
          </a:xfrm>
          <a:prstGeom prst="roundRect">
            <a:avLst>
              <a:gd name="adj" fmla="val 2124"/>
            </a:avLst>
          </a:prstGeom>
          <a:solidFill>
            <a:srgbClr val="EDF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397240" y="2057400"/>
            <a:ext cx="384048" cy="384048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45880" y="2057400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本事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97240" y="25786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从图纸到实物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97240" y="3108960"/>
            <a:ext cx="280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整合视觉、结构、材料完成包装创作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全流程实操，做得出实物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立足应用场景解决真实难题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创新设计、沟通表达与设计评析</a:t>
            </a:r>
            <a:endParaRPr lang="en-US" sz="1300" dirty="0"/>
          </a:p>
          <a:p>
            <a:pPr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文献检索、方案撰写与自主学习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5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课程地图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四年一共学什么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四大模组 · 学分怎么分 · 什么时候要自己做选择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你的课分成四大块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D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7830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 41 ＋ 学科通识 19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7830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学分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783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打底：思政、外语、体育、AI、艺术史论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DF4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7523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专业教育模组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752344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 30 ＋ 专业限选 35 ＋ 跨专业任选 24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752344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学分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0" y="2752344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主干：打底 → 进方向组 → 破壁垒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2160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DFEB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7216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综合实践模组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7216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社会实践课程群 ＋ 专业实践课程群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372160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E96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学分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72160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军训、社会实践、毕业设计等，班会另讲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9087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DFEB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469087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创新创业模组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469087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双创课程群 ＋ 第二课堂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69087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7E96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学分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469087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就业创业指导与素质拓展，班会另讲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7150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B2A2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5715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四块加起来 175 学分、3222 学时，就是你的毕业线。今天重点讲前两块。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四年里，这些时候要你自己做选择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其余课程都在课表里排好了，你只要按时上课；下面这几件事没人替你做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51206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要做的选择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分类选读，本专业已选定 4 门（第 15 页）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国际教育课程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修校内课程，或用海外访学、研学、国际工作坊认定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4—5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两个方向组的课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包装工艺与数字智能、品牌与商业包装策划，各修 14.5 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5—6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综合实践与职业转化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专业考察必上；设计工作坊 / 社会服务与应用专题 二选一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6—7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跨专业交叉课程、专产对接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全校开放选课，有人数上限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思政选修 · 学术讲座 · 第二课堂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 6 选 1；讲座提交报告累积学分；第二课堂由团委认定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＋ 2 ＋ 2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把这一页拍下来。漏掉其中任何一项，毕业时都要补。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5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打底的课，60 学分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公共通识课程群 41 ＋ 学科通识课程群 19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 · 41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公共通识课程群：全校统一开的课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这些课都排在课表里，按时上课即可；只有思政选修课那 1 学分要你自己挑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课程种类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课程（学分）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思政通识课程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思想道德与法治 3　·　中国近现代史纲要 3　·　马克思主义基本原理 3　·　毛泽东思想和中国特色社会主义理论体系概论 3　·　习近平新时代中国特色社会主义思想概论 3　·　军事理论 2　·　形势与政策 2　·　国家安全教育 1　·　思政选修课 1（自己选）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大学英语Ⅰ—Ⅳ 各 1.5　·　古典文学 1.5　·　现代文学 1.5　·　逻辑学 2　·　大学普通话 1　·　应用文写作概论 1　·　人工智能导论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健康通识课程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体育Ⅰ—Ⅳ 各 1（第 1—4 学期）　·　大学生心理健康教育 2（第 1 学期）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B2A2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285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《逻辑学》和《人工智能导论》别当成水课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6967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包装是要落地量产的设计：结构讲逻辑、工艺讲参数。这两门课加上第 3 学期的《AI 视觉设计工作流》，是你后面做方案、算成本、跑打样的底子。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通识教育模组 · 19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学科通识课程群：面向设计学科的课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这一块四项里有三项要你自己选或自己攒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265176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课程种类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要不要自己选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学科通识课程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学期（全校限选）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要选：分类选读，本专业已选定 4 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国际教育课程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4 学期（全校任选）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要选：修课，或用海外访学、研学、国际工作坊认定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德育与传统文化课程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学期第 1—6 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不用选：全校统一开设，集中 6 周上完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学术活动课程（学术讲座）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要自己攒：听讲座交报告，每次 0.5 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B2A2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5138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学术讲座这 2 学分最容易漏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9253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没有课表、没有人催你。学院请来的讲座尽量去听、去交报告；发论文或拿到实用新型专利可一次性认定 2 学分。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通识课里的选修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四件事要你自己做决定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B2A2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75688"/>
            <a:ext cx="402336" cy="402336"/>
          </a:xfrm>
          <a:prstGeom prst="ellipse">
            <a:avLst/>
          </a:prstGeom>
          <a:solidFill>
            <a:srgbClr val="5FC7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学科通识课程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060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学分 · 4 门　·　第 1 学期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下个月就要选。分类硬性选读，本专业已选定 4 门，照着选。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4F0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75688"/>
            <a:ext cx="402336" cy="402336"/>
          </a:xfrm>
          <a:prstGeom prst="ellipse">
            <a:avLst/>
          </a:prstGeom>
          <a:solidFill>
            <a:srgbClr val="7E968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0574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思政选修课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6060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学分 · 1 门　·　上下学期都有课，自选学期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99008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门里任选 1 门，早修早清。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178808"/>
            <a:ext cx="402336" cy="402336"/>
          </a:xfrm>
          <a:prstGeom prst="ellipse">
            <a:avLst/>
          </a:prstGeom>
          <a:solidFill>
            <a:srgbClr val="7E968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国际教育课程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7091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学分　·　第 4 学期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09320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修校内国际教育课程，或用海外访学、研学、国际工作坊等形式认定。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EDF4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4178808"/>
            <a:ext cx="402336" cy="402336"/>
          </a:xfrm>
          <a:prstGeom prst="ellipse">
            <a:avLst/>
          </a:prstGeom>
          <a:solidFill>
            <a:srgbClr val="7E968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70916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学分　·　四年内累积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09320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听讲座并提交报告，每次 0.5 学分；发论文、拿专利可一次性认定 2 学分。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接下来两页，把最急的两件事讲清楚：学科通识怎么选、思政选修有哪 6 门。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最急的一次选课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学科通识：本专业替你选定了这 4 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全校规则是三类分别硬性选读；本专业按“与包装设计高度相关”确定下面 4 门，请照此选课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512064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包装选定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选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E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中西方美术史、中国工艺美术史、世界设计史、世界科技发展史、中西方建筑史、中西方电影史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世界设计史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概论类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选 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E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美学概论、艺术学概论、设计学概论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设计学概论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设计通识类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选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6E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人机工程学、设计心理学、设计思维与方法、人工智能设计方法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设计心理学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704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设计思维与方法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1B2A2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1023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为什么是这 4 门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5138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设计脉络（世界设计史）· 学科定位（设计学概论）· 消费者与方法（设计心理学 ＋ 设计思维与方法），直接衔接大三的《包装与消费体验设计》《包装设计与策略》。三类都要选够，缺一类就不满足毕业要求。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另外两件事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 6 选 1　·　国际教育课程 3 学分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ED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思政选修课　1 学分，6 门任选 1 门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871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每学年上学期开设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1635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《中国共产党党史》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《中华民族共同体概论》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《从延安到北京：中国共产党人的文艺思想与实践》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862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每学年下学期开设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206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《马克思主义文艺论著选读》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《中华优秀传统文化导读》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《文艺与时代：美术经典视角下的改革开放史》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2852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哪个学期修由你定，建议大一大二清掉。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B2A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011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国际教育课程　3 学分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4688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版方案新增，面向全体学生开放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260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开课时间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2461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学期，具体周次以教务处通知为准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657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学分怎么拿（两条路）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9776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一、修读学校开出的非语言类外语课程（不少于 40 门）</a:t>
            </a: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二、通过海外访学、研学、参加国际工作坊等形式申请认定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95604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详见《山东工艺美术学院国际课程认定与管理办法》。有出国交流打算的同学提前找教学秘书咨询。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5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大一大二，全班一起打底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学分 · 10 门课 · 不分组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专业必修课 · 30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 10 门课，全班都要上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国标要求全体学生必须掌握的内容，不受你后面挑哪些课影响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669280"/>
                <a:gridCol w="256032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课程（学分）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学科与专业导论 0.5　·　形式基础 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E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认识专业，练手上功夫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2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视觉感知与色彩表达 4　·　空间与材料 4　·　图形创意思维 3　·　传统文化采风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E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会用色彩、会做立体、会想图形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文字与版式设计 4　·　时间与运动 4　·　人工智能与视觉设计工作流 2.5　·　设计研究与用户洞察 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E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会排版、会动态、会用 AI、会做调研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443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12.5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B2A2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" y="5285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《空间与材料》是包装专业最要紧的一门基础课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56967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别的专业在纸面上做设计，你要做的是能立起来、装得下、运得走的东西。上完这 10 门，你会知道自己更喜欢做结构工艺，还是更喜欢做品牌策划。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5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两个方向组 ＋ 综合实践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学分 ＝ 14.5 ＋ 14.5 ＋ 6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专业限选课程群 · 35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这一块的规则：两个方向组各修一半，再加综合实践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4F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48840"/>
            <a:ext cx="420624" cy="420624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288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包装工艺与数字智能方向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8288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门课程库里修 14.5 学分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1828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把包装做出来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0" y="182880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3319272"/>
            <a:ext cx="420624" cy="420624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999232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品牌与商业包装策划方向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99923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门课程库里修 14.5 学分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999232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把包装卖出去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0" y="2999232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" y="416966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DFEBE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4489704"/>
            <a:ext cx="420624" cy="420624"/>
          </a:xfrm>
          <a:prstGeom prst="ellipse">
            <a:avLst/>
          </a:prstGeom>
          <a:solidFill>
            <a:srgbClr val="7E968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6966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综合实践与职业转化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4169664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专业考察 ＋ 工作坊二选一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4169664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把学过的用到真实项目上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4169664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40080" y="54406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B2A2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56052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两个方向组都要修，不能只修一个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60167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组练的是把东西做出来的工艺，B 组练的是让它卖得动的策划。企业招人两样都问——差别只在于你在每组里挑哪几门。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方向组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包装工艺与数字智能方向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把包装做出来：材料、结构、印刷、3D 与智能包装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EDF4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课程库 8 门，修满 14.5 学分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学期开出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1693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包装材料与工艺 3.5　·　包装材料与生态美学 3.5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包装容器与结构 4.5　·　3D 包装效果图 4.5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包装印刷与工艺 3　·　印刷技术 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148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学期开出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42569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智能包装设计 3.5　·　包装虚拟展示设计 3.5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4132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每门 3—4.5 学分，凑满 14.5 学分即可。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DF4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适合你如果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323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你喜欢动手：琢磨盒子怎么折、材料怎么选、印刷怎么出效果，想做结构研发和落地生产。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B2A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40965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这一组能给你的作品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44398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一套能打样的容器结构与材料方案，配 3D 效果图；或一件智能包装、虚拟展示原型。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方向组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品牌与商业包装策划方向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把包装卖出去：品牌、策略、消费体验与文创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EDF4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课程库 8 门，修满 14.5 学分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学期开出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1693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品牌与包装设计 3.5　·　品牌策划与视觉识别 3.5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148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学期开出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42569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包装设计与策略 4　·　包装与消费体验设计 4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文创产品包装设计 3.5　·　文化符号与视觉转译 3.5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服务设计方法 3.5　·　交互设计 3.5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4132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每门 3—4.5 学分，凑满 14.5 学分即可。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DF4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适合你如果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4323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你更在意人和市场：这个包装给谁看、放在货架上凭什么被拿起来，想做品牌策划和文创产品。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1B2A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40965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这一组能给你的作品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44398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一套完整的品牌包装方案：从策略、视觉识别到包装落地与消费体验设计。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方向组 C · 6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综合实践与职业转化：把学过的用到真实项目上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不属于任何一个方向，两个方向的同学都要修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1B2A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12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专业考察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61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学分 · 第 5 学期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743200"/>
            <a:ext cx="777240" cy="310896"/>
          </a:xfrm>
          <a:prstGeom prst="rect">
            <a:avLst/>
          </a:prstGeom>
          <a:solidFill>
            <a:srgbClr val="5FC79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必上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004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走进包装企业和生产线，看真实的材料、工艺与产线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EDF4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212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设计工作坊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761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学分 · 第 6 学期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743200"/>
            <a:ext cx="777240" cy="310896"/>
          </a:xfrm>
          <a:prstGeom prst="rect">
            <a:avLst/>
          </a:prstGeom>
          <a:solidFill>
            <a:srgbClr val="2370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二选一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2004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在工作坊里完整做一个包装项目，出成品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383280" cy="2514600"/>
          </a:xfrm>
          <a:prstGeom prst="roundRect">
            <a:avLst>
              <a:gd name="adj" fmla="val 2909"/>
            </a:avLst>
          </a:prstGeom>
          <a:solidFill>
            <a:srgbClr val="EDF4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212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社会服务与应用专题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761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学分 · 第 6 学期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469880" y="2743200"/>
            <a:ext cx="777240" cy="310896"/>
          </a:xfrm>
          <a:prstGeom prst="rect">
            <a:avLst/>
          </a:prstGeom>
          <a:solidFill>
            <a:srgbClr val="2370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二选一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2004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对接真实社会需求做专题设计，比如地方农产品包装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B2A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50109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专业考察 2 ＋ 工作坊 4 ＝ 6 学分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4223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4 学分的工作坊选一个即可。第 6 学期这门课产出的东西，直接进你的作品集——它比任何一门理论课都更影响你找工作时手里有什么。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两个方向组，什么时候挑、怎么挑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ED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上课时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留意自己的手感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上完空间与材料、文字与版式，你会发现自己更喜欢动手做结构，还是更喜欢想品牌和策略。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EDF4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先定一个重心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重心放 A 组还是 B 组，另一组挑能补短板的课。带着作业去问老师。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1B2A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选课时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两组同时开始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组第 4 学期开 6 门，B 组开 2 门；第 5 学期两组都还有课，别把一组拖到最后。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EDF4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20574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5—6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学期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880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把它变成作品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4290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学期专业考察看产线，第 6 学期工作坊做出成品。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B2A2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5212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两组各修满 14.5 学分，35 学分自然够——你要操心的是作品，不是算术。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三个提醒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457200" cy="457200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两个方向组都要修，不能互相顶替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042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组多修一门，不能拿去抵 B 组的学分。两组各 14.5 学分，一分都不能少。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2004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有重心，但别偏科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6758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只会做结构不会讲方案，或者只会讲方案做不出实物，在包装这行都走不远。企业两样都问。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626864"/>
            <a:ext cx="457200" cy="457200"/>
          </a:xfrm>
          <a:prstGeom prst="ellipse">
            <a:avLst/>
          </a:prstGeom>
          <a:solidFill>
            <a:srgbClr val="2370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72000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工作坊不是凑学分的课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474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学期的设计工作坊 / 社会服务与应用专题，产出的是你作品集里最重的一件，从专业考察就开始想题目。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5FC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和别的专业同学一起做项目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学分 · 第 6—7 学期 · 2026 版方案的重点改革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跨专业交叉任选课程群 · 24 学分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全校打通，组队做项目</a:t>
            </a:r>
            <a:endParaRPr lang="en-US" sz="3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371600"/>
                <a:gridCol w="6309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22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跨专业交叉课程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370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6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全校开放选课，不限专业，项目式教学。本专业向全校开出 4 门（各 4 学分）：生活中的包装智慧、包装视觉叙事与品牌整合、文创产品包装设计、包装策略与场景化设计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专产对接课程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370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7 学期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F443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专产对接 1、专产对接 2 各 4 学分，引入产业真实项目，全校召集学生分工合作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80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B2A2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4663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C7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有人数上限，手慢无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074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在全校范围内竞争。提前看开课目录，想好第一志愿和备选。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4480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DF4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0" y="4663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四年里唯一一次系统性跨专业合作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5074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视传、数媒、智能交互的同学都在里面。包装项目最需要组队——结构、视觉、传播各有分工。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带走这一张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每学期末，问自己一遍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课表里排好的课按时上就行；下面这些是要你自己盯住的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4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学科通识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学期选定 4 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4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思政选修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选 1，早修早清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4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国际教育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学期，或走认定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1965960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4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6609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学术讲座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953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四年内攒够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4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方向组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工艺与数字智能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4F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方向组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品牌与商业策划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4F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考察 ＋ 工作坊二选一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06840" y="3538728"/>
            <a:ext cx="2514600" cy="1353312"/>
          </a:xfrm>
          <a:prstGeom prst="roundRect">
            <a:avLst>
              <a:gd name="adj" fmla="val 5405"/>
            </a:avLst>
          </a:prstGeom>
          <a:solidFill>
            <a:srgbClr val="EDF4F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35440" y="367588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4233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 ＋ 对接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45262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6—7 学期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专业必修 30 学分、第二课堂 2 学分和通识必修课都在课表或团委安排里，按要求完成即可。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370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这六个问题，每年都有人问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47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29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两个方向组可以只修一个吗？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3591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不可以。A、B 两组各要修满 14.5 学分。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4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19672" y="1947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85432" y="1929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组多修能顶 B 组的学分吗？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23591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不能。多修不吃亏，但不能跨组抵扣。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4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3009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我只想做结构和工艺，行吗？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7307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组可以集中挑，但 B 组也要修——企业既问你怎么做，也问你为什么这么做。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4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9672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33009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综合实践三门都要上吗？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37307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专业考察必上；设计工作坊和社会服务与应用专题二选一，合计 6 学分。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4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690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6725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跨专业课没抢到怎么办？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1023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关注补选和下一轮开课，务必在毕业前修满。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52628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EDF4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9672" y="4690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70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46725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出国交流过还要上国际教育课程吗？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51023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F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走认定流程，以《国际课程认定与管理办法》为准。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566160"/>
            <a:ext cx="4206240" cy="4206240"/>
          </a:xfrm>
          <a:prstGeom prst="ellipse">
            <a:avLst/>
          </a:prstGeom>
          <a:solidFill>
            <a:srgbClr val="2638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9202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必修课决定你合不合格</a:t>
            </a:r>
            <a:endParaRPr lang="en-US" sz="4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挑的课决定你是谁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886200"/>
            <a:ext cx="2377440" cy="0"/>
          </a:xfrm>
          <a:prstGeom prst="line">
            <a:avLst/>
          </a:prstGeom>
          <a:noFill/>
          <a:ln w="25400">
            <a:solidFill>
              <a:srgbClr val="5FC7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206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专业负责人：＿＿＿＿＿　　教学秘书：＿＿＿＿＿　　辅导员：＿＿＿＿＿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B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培养方案电子版、选课手册、《学分自查表》：班级群文件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8521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6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山东工艺美术学院 · 包装设计专业 · 2026 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包装设计专业2026级新生人才培养方案宣讲</dc:title>
  <dc:subject>PptxGenJS Presentation</dc:subject>
  <dc:creator>包装设计专业</dc:creator>
  <cp:lastModifiedBy>包装设计专业</cp:lastModifiedBy>
  <cp:revision>1</cp:revision>
  <dcterms:created xsi:type="dcterms:W3CDTF">2026-09-11T13:45:35Z</dcterms:created>
  <dcterms:modified xsi:type="dcterms:W3CDTF">2026-09-11T13:45:35Z</dcterms:modified>
</cp:coreProperties>
</file>